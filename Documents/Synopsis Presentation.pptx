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497" r:id="rId3"/>
    <p:sldId id="499" r:id="rId4"/>
    <p:sldId id="507" r:id="rId5"/>
    <p:sldId id="512" r:id="rId6"/>
    <p:sldId id="500" r:id="rId7"/>
    <p:sldId id="501" r:id="rId8"/>
    <p:sldId id="502" r:id="rId9"/>
    <p:sldId id="513" r:id="rId10"/>
    <p:sldId id="514" r:id="rId11"/>
    <p:sldId id="503" r:id="rId12"/>
    <p:sldId id="515" r:id="rId13"/>
    <p:sldId id="508" r:id="rId14"/>
    <p:sldId id="506" r:id="rId15"/>
    <p:sldId id="516" r:id="rId16"/>
    <p:sldId id="517" r:id="rId17"/>
    <p:sldId id="509" r:id="rId18"/>
    <p:sldId id="269" r:id="rId19"/>
  </p:sldIdLst>
  <p:sldSz cx="9144000" cy="6858000" type="screen4x3"/>
  <p:notesSz cx="6761163" cy="99425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0AA"/>
    <a:srgbClr val="0066B3"/>
    <a:srgbClr val="E31E24"/>
    <a:srgbClr val="006CB4"/>
    <a:srgbClr val="E8303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2C9074F-8523-4A26-AAEE-BA7C7143B0BE}" v="58" dt="2025-02-04T17:58:53.00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99" autoAdjust="0"/>
    <p:restoredTop sz="94713" autoAdjust="0"/>
  </p:normalViewPr>
  <p:slideViewPr>
    <p:cSldViewPr>
      <p:cViewPr varScale="1">
        <p:scale>
          <a:sx n="78" d="100"/>
          <a:sy n="78" d="100"/>
        </p:scale>
        <p:origin x="1618" y="82"/>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667E1B8-FE1F-49EC-9357-DE8FB6DF4213}" type="doc">
      <dgm:prSet loTypeId="urn:microsoft.com/office/officeart/2005/8/layout/hProcess11" loCatId="process" qsTypeId="urn:microsoft.com/office/officeart/2005/8/quickstyle/simple1" qsCatId="simple" csTypeId="urn:microsoft.com/office/officeart/2005/8/colors/accent1_2" csCatId="accent1" phldr="1"/>
      <dgm:spPr/>
      <dgm:t>
        <a:bodyPr/>
        <a:lstStyle/>
        <a:p>
          <a:endParaRPr lang="en-IN"/>
        </a:p>
      </dgm:t>
    </dgm:pt>
    <dgm:pt modelId="{058D87FB-C541-4264-A6BF-13B306EEBD36}">
      <dgm:prSet phldrT="[Text]" custT="1"/>
      <dgm:spPr/>
      <dgm:t>
        <a:bodyPr/>
        <a:lstStyle/>
        <a:p>
          <a:pPr algn="ctr"/>
          <a:r>
            <a:rPr lang="en-IN" sz="900" b="1">
              <a:latin typeface="Times New Roman" panose="02020603050405020304" pitchFamily="18" charset="0"/>
              <a:cs typeface="Times New Roman" panose="02020603050405020304" pitchFamily="18" charset="0"/>
            </a:rPr>
            <a:t>Phase 1</a:t>
          </a:r>
        </a:p>
        <a:p>
          <a:pPr algn="ctr"/>
          <a:r>
            <a:rPr lang="en-IN" sz="900" b="1">
              <a:latin typeface="Times New Roman" panose="02020603050405020304" pitchFamily="18" charset="0"/>
              <a:cs typeface="Times New Roman" panose="02020603050405020304" pitchFamily="18" charset="0"/>
            </a:rPr>
            <a:t>(15th Jan)-</a:t>
          </a:r>
        </a:p>
        <a:p>
          <a:pPr algn="ctr"/>
          <a:endParaRPr lang="en-IN" sz="900" b="1">
            <a:latin typeface="Times New Roman" panose="02020603050405020304" pitchFamily="18" charset="0"/>
            <a:cs typeface="Times New Roman" panose="02020603050405020304" pitchFamily="18" charset="0"/>
          </a:endParaRPr>
        </a:p>
        <a:p>
          <a:pPr algn="ctr"/>
          <a:r>
            <a:rPr lang="en-IN" sz="900">
              <a:latin typeface="Times New Roman" panose="02020603050405020304" pitchFamily="18" charset="0"/>
              <a:cs typeface="Times New Roman" panose="02020603050405020304" pitchFamily="18" charset="0"/>
            </a:rPr>
            <a:t>UI/UX Design &amp; Report Analysis Model Training</a:t>
          </a:r>
        </a:p>
      </dgm:t>
    </dgm:pt>
    <dgm:pt modelId="{609F357A-9183-4D88-8380-452CCEE02017}" type="parTrans" cxnId="{7C253D31-5D2F-42D6-89F7-D9720D4BF9AC}">
      <dgm:prSet/>
      <dgm:spPr/>
      <dgm:t>
        <a:bodyPr/>
        <a:lstStyle/>
        <a:p>
          <a:endParaRPr lang="en-IN"/>
        </a:p>
      </dgm:t>
    </dgm:pt>
    <dgm:pt modelId="{DFA4073F-7ED9-4D2F-B72C-24EC9577DC6A}" type="sibTrans" cxnId="{7C253D31-5D2F-42D6-89F7-D9720D4BF9AC}">
      <dgm:prSet/>
      <dgm:spPr/>
      <dgm:t>
        <a:bodyPr/>
        <a:lstStyle/>
        <a:p>
          <a:endParaRPr lang="en-IN"/>
        </a:p>
      </dgm:t>
    </dgm:pt>
    <dgm:pt modelId="{0C2D8AAB-B849-4DF2-B853-62E72C5D67D3}">
      <dgm:prSet phldrT="[Text]" custT="1"/>
      <dgm:spPr/>
      <dgm:t>
        <a:bodyPr/>
        <a:lstStyle/>
        <a:p>
          <a:pPr algn="ctr"/>
          <a:r>
            <a:rPr lang="en-IN" sz="900" b="1">
              <a:latin typeface="Times New Roman" panose="02020603050405020304" pitchFamily="18" charset="0"/>
              <a:cs typeface="Times New Roman" panose="02020603050405020304" pitchFamily="18" charset="0"/>
            </a:rPr>
            <a:t>Phase 2 </a:t>
          </a:r>
        </a:p>
        <a:p>
          <a:pPr algn="ctr"/>
          <a:r>
            <a:rPr lang="en-IN" sz="900" b="1">
              <a:latin typeface="Times New Roman" panose="02020603050405020304" pitchFamily="18" charset="0"/>
              <a:cs typeface="Times New Roman" panose="02020603050405020304" pitchFamily="18" charset="0"/>
            </a:rPr>
            <a:t>(1st Feb)-</a:t>
          </a:r>
        </a:p>
        <a:p>
          <a:pPr algn="ctr"/>
          <a:endParaRPr lang="en-IN" sz="900" b="1">
            <a:latin typeface="Times New Roman" panose="02020603050405020304" pitchFamily="18" charset="0"/>
            <a:cs typeface="Times New Roman" panose="02020603050405020304" pitchFamily="18" charset="0"/>
          </a:endParaRPr>
        </a:p>
        <a:p>
          <a:pPr algn="ctr"/>
          <a:r>
            <a:rPr lang="en-IN" sz="900">
              <a:latin typeface="Times New Roman" panose="02020603050405020304" pitchFamily="18" charset="0"/>
              <a:cs typeface="Times New Roman" panose="02020603050405020304" pitchFamily="18" charset="0"/>
            </a:rPr>
            <a:t>OCR Integration &amp; Implementing of Report Analysis Model on the website</a:t>
          </a:r>
        </a:p>
      </dgm:t>
    </dgm:pt>
    <dgm:pt modelId="{423C9783-BD6E-41D5-8111-7877C2D31C06}" type="parTrans" cxnId="{03CC4329-2E55-4833-95CC-EF46007C0C3F}">
      <dgm:prSet/>
      <dgm:spPr/>
      <dgm:t>
        <a:bodyPr/>
        <a:lstStyle/>
        <a:p>
          <a:endParaRPr lang="en-IN"/>
        </a:p>
      </dgm:t>
    </dgm:pt>
    <dgm:pt modelId="{5550B327-0AC7-4821-BB56-BF6777805FE2}" type="sibTrans" cxnId="{03CC4329-2E55-4833-95CC-EF46007C0C3F}">
      <dgm:prSet/>
      <dgm:spPr/>
      <dgm:t>
        <a:bodyPr/>
        <a:lstStyle/>
        <a:p>
          <a:endParaRPr lang="en-IN"/>
        </a:p>
      </dgm:t>
    </dgm:pt>
    <dgm:pt modelId="{3AA68BBD-852F-4BDA-8C03-4D68B091767F}">
      <dgm:prSet phldrT="[Text]" custT="1"/>
      <dgm:spPr/>
      <dgm:t>
        <a:bodyPr/>
        <a:lstStyle/>
        <a:p>
          <a:r>
            <a:rPr lang="en-IN" sz="900" b="1">
              <a:latin typeface="Times New Roman" panose="02020603050405020304" pitchFamily="18" charset="0"/>
              <a:cs typeface="Times New Roman" panose="02020603050405020304" pitchFamily="18" charset="0"/>
            </a:rPr>
            <a:t>Phase 3 (15th Feb)-</a:t>
          </a:r>
        </a:p>
        <a:p>
          <a:endParaRPr lang="en-IN" sz="900" b="1">
            <a:latin typeface="Times New Roman" panose="02020603050405020304" pitchFamily="18" charset="0"/>
            <a:cs typeface="Times New Roman" panose="02020603050405020304" pitchFamily="18" charset="0"/>
          </a:endParaRPr>
        </a:p>
        <a:p>
          <a:r>
            <a:rPr lang="en-IN" sz="900">
              <a:latin typeface="Times New Roman" panose="02020603050405020304" pitchFamily="18" charset="0"/>
              <a:cs typeface="Times New Roman" panose="02020603050405020304" pitchFamily="18" charset="0"/>
            </a:rPr>
            <a:t>Medicine Scanner Model Training</a:t>
          </a:r>
        </a:p>
      </dgm:t>
    </dgm:pt>
    <dgm:pt modelId="{68A93184-8A09-4E3A-993F-ABA21F97B14E}" type="parTrans" cxnId="{E146F12F-4062-4DB6-B022-20F7FB8375D3}">
      <dgm:prSet/>
      <dgm:spPr/>
      <dgm:t>
        <a:bodyPr/>
        <a:lstStyle/>
        <a:p>
          <a:endParaRPr lang="en-IN"/>
        </a:p>
      </dgm:t>
    </dgm:pt>
    <dgm:pt modelId="{A6763111-C522-4088-BD3E-CBAE6935E25A}" type="sibTrans" cxnId="{E146F12F-4062-4DB6-B022-20F7FB8375D3}">
      <dgm:prSet/>
      <dgm:spPr/>
      <dgm:t>
        <a:bodyPr/>
        <a:lstStyle/>
        <a:p>
          <a:endParaRPr lang="en-IN"/>
        </a:p>
      </dgm:t>
    </dgm:pt>
    <dgm:pt modelId="{8D135755-CBBC-40DF-9E68-6549BD09338B}">
      <dgm:prSet custT="1"/>
      <dgm:spPr/>
      <dgm:t>
        <a:bodyPr/>
        <a:lstStyle/>
        <a:p>
          <a:r>
            <a:rPr lang="en-IN" sz="900" b="1">
              <a:latin typeface="Times New Roman" panose="02020603050405020304" pitchFamily="18" charset="0"/>
              <a:cs typeface="Times New Roman" panose="02020603050405020304" pitchFamily="18" charset="0"/>
            </a:rPr>
            <a:t>Phase 4</a:t>
          </a:r>
        </a:p>
        <a:p>
          <a:r>
            <a:rPr lang="en-IN" sz="900" b="1">
              <a:latin typeface="Times New Roman" panose="02020603050405020304" pitchFamily="18" charset="0"/>
              <a:cs typeface="Times New Roman" panose="02020603050405020304" pitchFamily="18" charset="0"/>
            </a:rPr>
            <a:t> (1st Mar)-</a:t>
          </a:r>
        </a:p>
        <a:p>
          <a:r>
            <a:rPr lang="en-IN" sz="900" b="1">
              <a:latin typeface="Times New Roman" panose="02020603050405020304" pitchFamily="18" charset="0"/>
              <a:cs typeface="Times New Roman" panose="02020603050405020304" pitchFamily="18" charset="0"/>
            </a:rPr>
            <a:t> </a:t>
          </a:r>
          <a:r>
            <a:rPr lang="en-IN" sz="900">
              <a:latin typeface="Times New Roman" panose="02020603050405020304" pitchFamily="18" charset="0"/>
              <a:cs typeface="Times New Roman" panose="02020603050405020304" pitchFamily="18" charset="0"/>
            </a:rPr>
            <a:t>Implementing the Medicine Scanner on the website</a:t>
          </a:r>
        </a:p>
      </dgm:t>
    </dgm:pt>
    <dgm:pt modelId="{99D2C085-E5E5-4B02-B9C9-1BE3BB56E1BD}" type="parTrans" cxnId="{BB05A6E7-7685-42F7-A35F-3BFDC462C0A5}">
      <dgm:prSet/>
      <dgm:spPr/>
      <dgm:t>
        <a:bodyPr/>
        <a:lstStyle/>
        <a:p>
          <a:endParaRPr lang="en-IN"/>
        </a:p>
      </dgm:t>
    </dgm:pt>
    <dgm:pt modelId="{AA415776-C1F1-4137-A729-3685CC66138D}" type="sibTrans" cxnId="{BB05A6E7-7685-42F7-A35F-3BFDC462C0A5}">
      <dgm:prSet/>
      <dgm:spPr/>
      <dgm:t>
        <a:bodyPr/>
        <a:lstStyle/>
        <a:p>
          <a:endParaRPr lang="en-IN"/>
        </a:p>
      </dgm:t>
    </dgm:pt>
    <dgm:pt modelId="{7F8B2F15-B77E-4F12-8354-157AC1939C5A}">
      <dgm:prSet custT="1"/>
      <dgm:spPr/>
      <dgm:t>
        <a:bodyPr/>
        <a:lstStyle/>
        <a:p>
          <a:r>
            <a:rPr lang="en-IN" sz="900" b="1">
              <a:latin typeface="Times New Roman" panose="02020603050405020304" pitchFamily="18" charset="0"/>
              <a:cs typeface="Times New Roman" panose="02020603050405020304" pitchFamily="18" charset="0"/>
            </a:rPr>
            <a:t>Phase 5 (15th Mar)-</a:t>
          </a:r>
        </a:p>
        <a:p>
          <a:r>
            <a:rPr lang="en-IN" sz="900" b="1">
              <a:latin typeface="Times New Roman" panose="02020603050405020304" pitchFamily="18" charset="0"/>
              <a:cs typeface="Times New Roman" panose="02020603050405020304" pitchFamily="18" charset="0"/>
            </a:rPr>
            <a:t> </a:t>
          </a:r>
          <a:r>
            <a:rPr lang="en-IN" sz="900">
              <a:latin typeface="Times New Roman" panose="02020603050405020304" pitchFamily="18" charset="0"/>
              <a:cs typeface="Times New Roman" panose="02020603050405020304" pitchFamily="18" charset="0"/>
            </a:rPr>
            <a:t>Dietary plan &amp; Symptom checker Model creation</a:t>
          </a:r>
        </a:p>
      </dgm:t>
    </dgm:pt>
    <dgm:pt modelId="{CEF0083D-18F3-4849-B9D1-4CC61E82927D}" type="parTrans" cxnId="{74A645C8-8905-4647-91A0-9F954BF93359}">
      <dgm:prSet/>
      <dgm:spPr/>
      <dgm:t>
        <a:bodyPr/>
        <a:lstStyle/>
        <a:p>
          <a:endParaRPr lang="en-IN"/>
        </a:p>
      </dgm:t>
    </dgm:pt>
    <dgm:pt modelId="{E82EBDF9-47D7-4BCC-A2C5-79F08A3F9919}" type="sibTrans" cxnId="{74A645C8-8905-4647-91A0-9F954BF93359}">
      <dgm:prSet/>
      <dgm:spPr/>
      <dgm:t>
        <a:bodyPr/>
        <a:lstStyle/>
        <a:p>
          <a:endParaRPr lang="en-IN"/>
        </a:p>
      </dgm:t>
    </dgm:pt>
    <dgm:pt modelId="{27679FED-6082-420F-9320-675F85F133AB}">
      <dgm:prSet custT="1"/>
      <dgm:spPr/>
      <dgm:t>
        <a:bodyPr/>
        <a:lstStyle/>
        <a:p>
          <a:r>
            <a:rPr lang="en-IN" sz="900" b="1" dirty="0">
              <a:latin typeface="Times New Roman" panose="02020603050405020304" pitchFamily="18" charset="0"/>
              <a:cs typeface="Times New Roman" panose="02020603050405020304" pitchFamily="18" charset="0"/>
            </a:rPr>
            <a:t>Phase 6 </a:t>
          </a:r>
        </a:p>
        <a:p>
          <a:r>
            <a:rPr lang="en-IN" sz="900" b="1" dirty="0">
              <a:latin typeface="Times New Roman" panose="02020603050405020304" pitchFamily="18" charset="0"/>
              <a:cs typeface="Times New Roman" panose="02020603050405020304" pitchFamily="18" charset="0"/>
            </a:rPr>
            <a:t>(1st Apr)-</a:t>
          </a:r>
        </a:p>
        <a:p>
          <a:endParaRPr lang="en-IN" sz="900" b="1" dirty="0">
            <a:latin typeface="Times New Roman" panose="02020603050405020304" pitchFamily="18" charset="0"/>
            <a:cs typeface="Times New Roman" panose="02020603050405020304" pitchFamily="18" charset="0"/>
          </a:endParaRPr>
        </a:p>
        <a:p>
          <a:r>
            <a:rPr lang="en-IN" sz="900" dirty="0">
              <a:latin typeface="Times New Roman" panose="02020603050405020304" pitchFamily="18" charset="0"/>
              <a:cs typeface="Times New Roman" panose="02020603050405020304" pitchFamily="18" charset="0"/>
            </a:rPr>
            <a:t>Implementing the of Dietary plans and Symptom checker model on the website</a:t>
          </a:r>
        </a:p>
      </dgm:t>
    </dgm:pt>
    <dgm:pt modelId="{24A736C6-97E1-4B15-A02D-4CC252446898}" type="parTrans" cxnId="{393CA450-B83E-476B-9A72-56992E06EEC5}">
      <dgm:prSet/>
      <dgm:spPr/>
      <dgm:t>
        <a:bodyPr/>
        <a:lstStyle/>
        <a:p>
          <a:endParaRPr lang="en-IN"/>
        </a:p>
      </dgm:t>
    </dgm:pt>
    <dgm:pt modelId="{B3FE2D98-3971-4AC2-9778-D1E2F891EBC3}" type="sibTrans" cxnId="{393CA450-B83E-476B-9A72-56992E06EEC5}">
      <dgm:prSet/>
      <dgm:spPr/>
      <dgm:t>
        <a:bodyPr/>
        <a:lstStyle/>
        <a:p>
          <a:endParaRPr lang="en-IN"/>
        </a:p>
      </dgm:t>
    </dgm:pt>
    <dgm:pt modelId="{A6B25946-A971-4237-888A-9707E16DB8DA}">
      <dgm:prSet custT="1"/>
      <dgm:spPr/>
      <dgm:t>
        <a:bodyPr/>
        <a:lstStyle/>
        <a:p>
          <a:r>
            <a:rPr lang="en-IN" sz="900" b="1" dirty="0">
              <a:latin typeface="Times New Roman" panose="02020603050405020304" pitchFamily="18" charset="0"/>
              <a:cs typeface="Times New Roman" panose="02020603050405020304" pitchFamily="18" charset="0"/>
            </a:rPr>
            <a:t>Phase 7 (14th Apr)-</a:t>
          </a:r>
        </a:p>
        <a:p>
          <a:r>
            <a:rPr lang="en-IN" sz="900" b="1" dirty="0">
              <a:latin typeface="Times New Roman" panose="02020603050405020304" pitchFamily="18" charset="0"/>
              <a:cs typeface="Times New Roman" panose="02020603050405020304" pitchFamily="18" charset="0"/>
            </a:rPr>
            <a:t> </a:t>
          </a:r>
          <a:r>
            <a:rPr lang="en-IN" sz="900" dirty="0">
              <a:latin typeface="Times New Roman" panose="02020603050405020304" pitchFamily="18" charset="0"/>
              <a:cs typeface="Times New Roman" panose="02020603050405020304" pitchFamily="18" charset="0"/>
            </a:rPr>
            <a:t>Testing &amp; Evaluation of all the Models</a:t>
          </a:r>
        </a:p>
      </dgm:t>
    </dgm:pt>
    <dgm:pt modelId="{DCDEBD79-4D8F-4973-9923-D94B1FAB781E}" type="parTrans" cxnId="{62C5E832-A1A9-40B0-9AA2-E8A564149898}">
      <dgm:prSet/>
      <dgm:spPr/>
      <dgm:t>
        <a:bodyPr/>
        <a:lstStyle/>
        <a:p>
          <a:endParaRPr lang="en-IN"/>
        </a:p>
      </dgm:t>
    </dgm:pt>
    <dgm:pt modelId="{84F81530-71EA-470E-B8AD-898993A08F33}" type="sibTrans" cxnId="{62C5E832-A1A9-40B0-9AA2-E8A564149898}">
      <dgm:prSet/>
      <dgm:spPr/>
      <dgm:t>
        <a:bodyPr/>
        <a:lstStyle/>
        <a:p>
          <a:endParaRPr lang="en-IN"/>
        </a:p>
      </dgm:t>
    </dgm:pt>
    <dgm:pt modelId="{77CCBDBC-8049-44EA-A911-72F1301A4179}">
      <dgm:prSet custT="1"/>
      <dgm:spPr/>
      <dgm:t>
        <a:bodyPr/>
        <a:lstStyle/>
        <a:p>
          <a:r>
            <a:rPr lang="en-IN" sz="900" b="1" dirty="0">
              <a:latin typeface="Times New Roman" panose="02020603050405020304" pitchFamily="18" charset="0"/>
              <a:cs typeface="Times New Roman" panose="02020603050405020304" pitchFamily="18" charset="0"/>
            </a:rPr>
            <a:t>Phase 8 </a:t>
          </a:r>
        </a:p>
        <a:p>
          <a:r>
            <a:rPr lang="en-IN" sz="900" b="1" dirty="0">
              <a:latin typeface="Times New Roman" panose="02020603050405020304" pitchFamily="18" charset="0"/>
              <a:cs typeface="Times New Roman" panose="02020603050405020304" pitchFamily="18" charset="0"/>
            </a:rPr>
            <a:t>(26</a:t>
          </a:r>
          <a:r>
            <a:rPr lang="en-IN" sz="900" b="1" baseline="30000" dirty="0">
              <a:latin typeface="Times New Roman" panose="02020603050405020304" pitchFamily="18" charset="0"/>
              <a:cs typeface="Times New Roman" panose="02020603050405020304" pitchFamily="18" charset="0"/>
            </a:rPr>
            <a:t>th</a:t>
          </a:r>
          <a:r>
            <a:rPr lang="en-IN" sz="900" b="1" dirty="0">
              <a:latin typeface="Times New Roman" panose="02020603050405020304" pitchFamily="18" charset="0"/>
              <a:cs typeface="Times New Roman" panose="02020603050405020304" pitchFamily="18" charset="0"/>
            </a:rPr>
            <a:t> April)-</a:t>
          </a:r>
        </a:p>
        <a:p>
          <a:r>
            <a:rPr lang="en-IN" sz="900" b="1" dirty="0">
              <a:latin typeface="Times New Roman" panose="02020603050405020304" pitchFamily="18" charset="0"/>
              <a:cs typeface="Times New Roman" panose="02020603050405020304" pitchFamily="18" charset="0"/>
            </a:rPr>
            <a:t> </a:t>
          </a:r>
          <a:r>
            <a:rPr lang="en-IN" sz="900" dirty="0">
              <a:latin typeface="Times New Roman" panose="02020603050405020304" pitchFamily="18" charset="0"/>
              <a:cs typeface="Times New Roman" panose="02020603050405020304" pitchFamily="18" charset="0"/>
            </a:rPr>
            <a:t>Deployment of the web application</a:t>
          </a:r>
        </a:p>
      </dgm:t>
    </dgm:pt>
    <dgm:pt modelId="{20F42588-46A0-4370-9DCF-9849CDF9C43A}" type="parTrans" cxnId="{F86555D8-E28A-402D-ADD5-7CAC4ED94917}">
      <dgm:prSet/>
      <dgm:spPr/>
      <dgm:t>
        <a:bodyPr/>
        <a:lstStyle/>
        <a:p>
          <a:endParaRPr lang="en-IN"/>
        </a:p>
      </dgm:t>
    </dgm:pt>
    <dgm:pt modelId="{DD611F6E-73B9-4F59-988E-67A38EAE7E1C}" type="sibTrans" cxnId="{F86555D8-E28A-402D-ADD5-7CAC4ED94917}">
      <dgm:prSet/>
      <dgm:spPr/>
      <dgm:t>
        <a:bodyPr/>
        <a:lstStyle/>
        <a:p>
          <a:endParaRPr lang="en-IN"/>
        </a:p>
      </dgm:t>
    </dgm:pt>
    <dgm:pt modelId="{A1154CF9-2195-4583-8449-51F4B2DEDAB0}" type="pres">
      <dgm:prSet presAssocID="{B667E1B8-FE1F-49EC-9357-DE8FB6DF4213}" presName="Name0" presStyleCnt="0">
        <dgm:presLayoutVars>
          <dgm:dir/>
          <dgm:resizeHandles val="exact"/>
        </dgm:presLayoutVars>
      </dgm:prSet>
      <dgm:spPr/>
    </dgm:pt>
    <dgm:pt modelId="{5443175C-DD88-42D5-B7D8-CD8A575AEBC5}" type="pres">
      <dgm:prSet presAssocID="{B667E1B8-FE1F-49EC-9357-DE8FB6DF4213}" presName="arrow" presStyleLbl="bgShp" presStyleIdx="0" presStyleCnt="1"/>
      <dgm:spPr/>
    </dgm:pt>
    <dgm:pt modelId="{D999CBCF-1BD1-4338-AA1C-61DF7E33D5BA}" type="pres">
      <dgm:prSet presAssocID="{B667E1B8-FE1F-49EC-9357-DE8FB6DF4213}" presName="points" presStyleCnt="0"/>
      <dgm:spPr/>
    </dgm:pt>
    <dgm:pt modelId="{D8B8FAA1-7D20-4B98-BB99-1EBD2B416715}" type="pres">
      <dgm:prSet presAssocID="{058D87FB-C541-4264-A6BF-13B306EEBD36}" presName="compositeA" presStyleCnt="0"/>
      <dgm:spPr/>
    </dgm:pt>
    <dgm:pt modelId="{7D379322-26B9-4315-8188-4834672D3072}" type="pres">
      <dgm:prSet presAssocID="{058D87FB-C541-4264-A6BF-13B306EEBD36}" presName="textA" presStyleLbl="revTx" presStyleIdx="0" presStyleCnt="8" custScaleX="150197" custScaleY="104762">
        <dgm:presLayoutVars>
          <dgm:bulletEnabled val="1"/>
        </dgm:presLayoutVars>
      </dgm:prSet>
      <dgm:spPr/>
    </dgm:pt>
    <dgm:pt modelId="{6FA84C6E-AEA3-436B-8933-D14BFEA6DC93}" type="pres">
      <dgm:prSet presAssocID="{058D87FB-C541-4264-A6BF-13B306EEBD36}" presName="circleA" presStyleLbl="node1" presStyleIdx="0" presStyleCnt="8"/>
      <dgm:spPr/>
    </dgm:pt>
    <dgm:pt modelId="{28D67DF8-5A3B-4C9A-92B1-0BAD453F0FB2}" type="pres">
      <dgm:prSet presAssocID="{058D87FB-C541-4264-A6BF-13B306EEBD36}" presName="spaceA" presStyleCnt="0"/>
      <dgm:spPr/>
    </dgm:pt>
    <dgm:pt modelId="{84CCF5E5-D83E-4E3A-A986-BE472F5D2CBD}" type="pres">
      <dgm:prSet presAssocID="{DFA4073F-7ED9-4D2F-B72C-24EC9577DC6A}" presName="space" presStyleCnt="0"/>
      <dgm:spPr/>
    </dgm:pt>
    <dgm:pt modelId="{458F3644-BD4A-4B30-9E22-BF5A636C22B0}" type="pres">
      <dgm:prSet presAssocID="{0C2D8AAB-B849-4DF2-B853-62E72C5D67D3}" presName="compositeB" presStyleCnt="0"/>
      <dgm:spPr/>
    </dgm:pt>
    <dgm:pt modelId="{23DBBE3B-3BD7-4FAE-A247-43F94650BF9E}" type="pres">
      <dgm:prSet presAssocID="{0C2D8AAB-B849-4DF2-B853-62E72C5D67D3}" presName="textB" presStyleLbl="revTx" presStyleIdx="1" presStyleCnt="8" custScaleX="174362">
        <dgm:presLayoutVars>
          <dgm:bulletEnabled val="1"/>
        </dgm:presLayoutVars>
      </dgm:prSet>
      <dgm:spPr/>
    </dgm:pt>
    <dgm:pt modelId="{857BB2D5-F06A-4554-83AD-A61C25FC7D14}" type="pres">
      <dgm:prSet presAssocID="{0C2D8AAB-B849-4DF2-B853-62E72C5D67D3}" presName="circleB" presStyleLbl="node1" presStyleIdx="1" presStyleCnt="8"/>
      <dgm:spPr/>
    </dgm:pt>
    <dgm:pt modelId="{6212E879-6AB4-4368-A3A9-C98A54C9144D}" type="pres">
      <dgm:prSet presAssocID="{0C2D8AAB-B849-4DF2-B853-62E72C5D67D3}" presName="spaceB" presStyleCnt="0"/>
      <dgm:spPr/>
    </dgm:pt>
    <dgm:pt modelId="{360D4D80-0620-4B6F-8457-0643F37B43F0}" type="pres">
      <dgm:prSet presAssocID="{5550B327-0AC7-4821-BB56-BF6777805FE2}" presName="space" presStyleCnt="0"/>
      <dgm:spPr/>
    </dgm:pt>
    <dgm:pt modelId="{8C25D467-E0F0-42D3-B324-D66005573504}" type="pres">
      <dgm:prSet presAssocID="{3AA68BBD-852F-4BDA-8C03-4D68B091767F}" presName="compositeA" presStyleCnt="0"/>
      <dgm:spPr/>
    </dgm:pt>
    <dgm:pt modelId="{1588069F-E7B7-4ECB-9C87-80A64F42D24E}" type="pres">
      <dgm:prSet presAssocID="{3AA68BBD-852F-4BDA-8C03-4D68B091767F}" presName="textA" presStyleLbl="revTx" presStyleIdx="2" presStyleCnt="8" custScaleX="144284">
        <dgm:presLayoutVars>
          <dgm:bulletEnabled val="1"/>
        </dgm:presLayoutVars>
      </dgm:prSet>
      <dgm:spPr/>
    </dgm:pt>
    <dgm:pt modelId="{0A468EE7-04AB-4B41-BB2A-8F4B0DF6B6F9}" type="pres">
      <dgm:prSet presAssocID="{3AA68BBD-852F-4BDA-8C03-4D68B091767F}" presName="circleA" presStyleLbl="node1" presStyleIdx="2" presStyleCnt="8"/>
      <dgm:spPr/>
    </dgm:pt>
    <dgm:pt modelId="{D507ADA2-AC89-46AE-B0B5-B55F7949CD85}" type="pres">
      <dgm:prSet presAssocID="{3AA68BBD-852F-4BDA-8C03-4D68B091767F}" presName="spaceA" presStyleCnt="0"/>
      <dgm:spPr/>
    </dgm:pt>
    <dgm:pt modelId="{2DCCAF45-B0CC-4F57-8B58-5399A9313BD8}" type="pres">
      <dgm:prSet presAssocID="{A6763111-C522-4088-BD3E-CBAE6935E25A}" presName="space" presStyleCnt="0"/>
      <dgm:spPr/>
    </dgm:pt>
    <dgm:pt modelId="{EF3E71E8-CA62-46FF-AE16-32ADAF6BE017}" type="pres">
      <dgm:prSet presAssocID="{8D135755-CBBC-40DF-9E68-6549BD09338B}" presName="compositeB" presStyleCnt="0"/>
      <dgm:spPr/>
    </dgm:pt>
    <dgm:pt modelId="{F9A41EE9-184E-403E-9B7E-C2476BB306B4}" type="pres">
      <dgm:prSet presAssocID="{8D135755-CBBC-40DF-9E68-6549BD09338B}" presName="textB" presStyleLbl="revTx" presStyleIdx="3" presStyleCnt="8" custScaleX="158153">
        <dgm:presLayoutVars>
          <dgm:bulletEnabled val="1"/>
        </dgm:presLayoutVars>
      </dgm:prSet>
      <dgm:spPr/>
    </dgm:pt>
    <dgm:pt modelId="{C36D6363-7219-46C7-BAC6-3C58A510233D}" type="pres">
      <dgm:prSet presAssocID="{8D135755-CBBC-40DF-9E68-6549BD09338B}" presName="circleB" presStyleLbl="node1" presStyleIdx="3" presStyleCnt="8"/>
      <dgm:spPr/>
    </dgm:pt>
    <dgm:pt modelId="{994D6EF3-7C58-458A-911C-5530999EF8D4}" type="pres">
      <dgm:prSet presAssocID="{8D135755-CBBC-40DF-9E68-6549BD09338B}" presName="spaceB" presStyleCnt="0"/>
      <dgm:spPr/>
    </dgm:pt>
    <dgm:pt modelId="{855B7B9E-4366-4631-BB8D-3C8D1AE1DA42}" type="pres">
      <dgm:prSet presAssocID="{AA415776-C1F1-4137-A729-3685CC66138D}" presName="space" presStyleCnt="0"/>
      <dgm:spPr/>
    </dgm:pt>
    <dgm:pt modelId="{A707B839-D850-49AF-9428-8DD60280FD40}" type="pres">
      <dgm:prSet presAssocID="{7F8B2F15-B77E-4F12-8354-157AC1939C5A}" presName="compositeA" presStyleCnt="0"/>
      <dgm:spPr/>
    </dgm:pt>
    <dgm:pt modelId="{F9F2CDB0-192A-4A54-8598-14E4C50F6CD4}" type="pres">
      <dgm:prSet presAssocID="{7F8B2F15-B77E-4F12-8354-157AC1939C5A}" presName="textA" presStyleLbl="revTx" presStyleIdx="4" presStyleCnt="8" custScaleX="158552">
        <dgm:presLayoutVars>
          <dgm:bulletEnabled val="1"/>
        </dgm:presLayoutVars>
      </dgm:prSet>
      <dgm:spPr/>
    </dgm:pt>
    <dgm:pt modelId="{5273065D-174C-4D95-A65A-2B7868161458}" type="pres">
      <dgm:prSet presAssocID="{7F8B2F15-B77E-4F12-8354-157AC1939C5A}" presName="circleA" presStyleLbl="node1" presStyleIdx="4" presStyleCnt="8"/>
      <dgm:spPr/>
    </dgm:pt>
    <dgm:pt modelId="{40BDFFA8-28B1-4AB9-A8A7-3846DAFFDDB2}" type="pres">
      <dgm:prSet presAssocID="{7F8B2F15-B77E-4F12-8354-157AC1939C5A}" presName="spaceA" presStyleCnt="0"/>
      <dgm:spPr/>
    </dgm:pt>
    <dgm:pt modelId="{435D4D86-D2E5-4AB5-9DCA-8A7C136A4D2F}" type="pres">
      <dgm:prSet presAssocID="{E82EBDF9-47D7-4BCC-A2C5-79F08A3F9919}" presName="space" presStyleCnt="0"/>
      <dgm:spPr/>
    </dgm:pt>
    <dgm:pt modelId="{350E4785-0560-49F6-96D3-197356A52C07}" type="pres">
      <dgm:prSet presAssocID="{27679FED-6082-420F-9320-675F85F133AB}" presName="compositeB" presStyleCnt="0"/>
      <dgm:spPr/>
    </dgm:pt>
    <dgm:pt modelId="{F0C96E12-7D15-402F-863A-1BBACBE9FE04}" type="pres">
      <dgm:prSet presAssocID="{27679FED-6082-420F-9320-675F85F133AB}" presName="textB" presStyleLbl="revTx" presStyleIdx="5" presStyleCnt="8" custScaleX="151887">
        <dgm:presLayoutVars>
          <dgm:bulletEnabled val="1"/>
        </dgm:presLayoutVars>
      </dgm:prSet>
      <dgm:spPr/>
    </dgm:pt>
    <dgm:pt modelId="{402BCE90-D784-4964-9B9D-771CED0BE9B7}" type="pres">
      <dgm:prSet presAssocID="{27679FED-6082-420F-9320-675F85F133AB}" presName="circleB" presStyleLbl="node1" presStyleIdx="5" presStyleCnt="8"/>
      <dgm:spPr/>
    </dgm:pt>
    <dgm:pt modelId="{8A2307BF-636C-42DB-A3E6-9C33FBA1C7D4}" type="pres">
      <dgm:prSet presAssocID="{27679FED-6082-420F-9320-675F85F133AB}" presName="spaceB" presStyleCnt="0"/>
      <dgm:spPr/>
    </dgm:pt>
    <dgm:pt modelId="{97CC7672-F9E0-4008-84A8-2371F70C4BF9}" type="pres">
      <dgm:prSet presAssocID="{B3FE2D98-3971-4AC2-9778-D1E2F891EBC3}" presName="space" presStyleCnt="0"/>
      <dgm:spPr/>
    </dgm:pt>
    <dgm:pt modelId="{1BC1C8BD-8A12-4841-9C30-E41F74A6AE3B}" type="pres">
      <dgm:prSet presAssocID="{A6B25946-A971-4237-888A-9707E16DB8DA}" presName="compositeA" presStyleCnt="0"/>
      <dgm:spPr/>
    </dgm:pt>
    <dgm:pt modelId="{A758FE2B-50F6-4284-8104-5850DDB9D826}" type="pres">
      <dgm:prSet presAssocID="{A6B25946-A971-4237-888A-9707E16DB8DA}" presName="textA" presStyleLbl="revTx" presStyleIdx="6" presStyleCnt="8" custScaleX="149585">
        <dgm:presLayoutVars>
          <dgm:bulletEnabled val="1"/>
        </dgm:presLayoutVars>
      </dgm:prSet>
      <dgm:spPr/>
    </dgm:pt>
    <dgm:pt modelId="{A666E19A-12D3-4BDD-A6D9-6976E5E45AA4}" type="pres">
      <dgm:prSet presAssocID="{A6B25946-A971-4237-888A-9707E16DB8DA}" presName="circleA" presStyleLbl="node1" presStyleIdx="6" presStyleCnt="8"/>
      <dgm:spPr/>
    </dgm:pt>
    <dgm:pt modelId="{02222175-6C73-4AF6-BCAE-6071B335262C}" type="pres">
      <dgm:prSet presAssocID="{A6B25946-A971-4237-888A-9707E16DB8DA}" presName="spaceA" presStyleCnt="0"/>
      <dgm:spPr/>
    </dgm:pt>
    <dgm:pt modelId="{357F6FA2-AB89-43EC-8386-7F071723DEA8}" type="pres">
      <dgm:prSet presAssocID="{84F81530-71EA-470E-B8AD-898993A08F33}" presName="space" presStyleCnt="0"/>
      <dgm:spPr/>
    </dgm:pt>
    <dgm:pt modelId="{79DADFAF-5325-4EF0-B663-0191E6267F72}" type="pres">
      <dgm:prSet presAssocID="{77CCBDBC-8049-44EA-A911-72F1301A4179}" presName="compositeB" presStyleCnt="0"/>
      <dgm:spPr/>
    </dgm:pt>
    <dgm:pt modelId="{3D85DC99-BFEF-4ACD-BFBA-A860A4B71A91}" type="pres">
      <dgm:prSet presAssocID="{77CCBDBC-8049-44EA-A911-72F1301A4179}" presName="textB" presStyleLbl="revTx" presStyleIdx="7" presStyleCnt="8" custScaleX="151179">
        <dgm:presLayoutVars>
          <dgm:bulletEnabled val="1"/>
        </dgm:presLayoutVars>
      </dgm:prSet>
      <dgm:spPr/>
    </dgm:pt>
    <dgm:pt modelId="{9BD32F0C-788E-40B2-B455-46E3452C9D8A}" type="pres">
      <dgm:prSet presAssocID="{77CCBDBC-8049-44EA-A911-72F1301A4179}" presName="circleB" presStyleLbl="node1" presStyleIdx="7" presStyleCnt="8"/>
      <dgm:spPr/>
    </dgm:pt>
    <dgm:pt modelId="{A88F541E-58C8-4167-B4F4-6E22013A3952}" type="pres">
      <dgm:prSet presAssocID="{77CCBDBC-8049-44EA-A911-72F1301A4179}" presName="spaceB" presStyleCnt="0"/>
      <dgm:spPr/>
    </dgm:pt>
  </dgm:ptLst>
  <dgm:cxnLst>
    <dgm:cxn modelId="{03CC4329-2E55-4833-95CC-EF46007C0C3F}" srcId="{B667E1B8-FE1F-49EC-9357-DE8FB6DF4213}" destId="{0C2D8AAB-B849-4DF2-B853-62E72C5D67D3}" srcOrd="1" destOrd="0" parTransId="{423C9783-BD6E-41D5-8111-7877C2D31C06}" sibTransId="{5550B327-0AC7-4821-BB56-BF6777805FE2}"/>
    <dgm:cxn modelId="{4D75D62B-07DE-47CA-982F-E8CD23E7E21A}" type="presOf" srcId="{058D87FB-C541-4264-A6BF-13B306EEBD36}" destId="{7D379322-26B9-4315-8188-4834672D3072}" srcOrd="0" destOrd="0" presId="urn:microsoft.com/office/officeart/2005/8/layout/hProcess11"/>
    <dgm:cxn modelId="{E146F12F-4062-4DB6-B022-20F7FB8375D3}" srcId="{B667E1B8-FE1F-49EC-9357-DE8FB6DF4213}" destId="{3AA68BBD-852F-4BDA-8C03-4D68B091767F}" srcOrd="2" destOrd="0" parTransId="{68A93184-8A09-4E3A-993F-ABA21F97B14E}" sibTransId="{A6763111-C522-4088-BD3E-CBAE6935E25A}"/>
    <dgm:cxn modelId="{7C253D31-5D2F-42D6-89F7-D9720D4BF9AC}" srcId="{B667E1B8-FE1F-49EC-9357-DE8FB6DF4213}" destId="{058D87FB-C541-4264-A6BF-13B306EEBD36}" srcOrd="0" destOrd="0" parTransId="{609F357A-9183-4D88-8380-452CCEE02017}" sibTransId="{DFA4073F-7ED9-4D2F-B72C-24EC9577DC6A}"/>
    <dgm:cxn modelId="{62C5E832-A1A9-40B0-9AA2-E8A564149898}" srcId="{B667E1B8-FE1F-49EC-9357-DE8FB6DF4213}" destId="{A6B25946-A971-4237-888A-9707E16DB8DA}" srcOrd="6" destOrd="0" parTransId="{DCDEBD79-4D8F-4973-9923-D94B1FAB781E}" sibTransId="{84F81530-71EA-470E-B8AD-898993A08F33}"/>
    <dgm:cxn modelId="{393CA450-B83E-476B-9A72-56992E06EEC5}" srcId="{B667E1B8-FE1F-49EC-9357-DE8FB6DF4213}" destId="{27679FED-6082-420F-9320-675F85F133AB}" srcOrd="5" destOrd="0" parTransId="{24A736C6-97E1-4B15-A02D-4CC252446898}" sibTransId="{B3FE2D98-3971-4AC2-9778-D1E2F891EBC3}"/>
    <dgm:cxn modelId="{ED0FC774-5F20-49CA-A68C-A0EA5FCD1AF2}" type="presOf" srcId="{A6B25946-A971-4237-888A-9707E16DB8DA}" destId="{A758FE2B-50F6-4284-8104-5850DDB9D826}" srcOrd="0" destOrd="0" presId="urn:microsoft.com/office/officeart/2005/8/layout/hProcess11"/>
    <dgm:cxn modelId="{44ED2B76-93AD-429C-9675-A981936B3661}" type="presOf" srcId="{3AA68BBD-852F-4BDA-8C03-4D68B091767F}" destId="{1588069F-E7B7-4ECB-9C87-80A64F42D24E}" srcOrd="0" destOrd="0" presId="urn:microsoft.com/office/officeart/2005/8/layout/hProcess11"/>
    <dgm:cxn modelId="{E4EBCD5A-F3D7-4AF3-8511-B4D8411A5B0D}" type="presOf" srcId="{8D135755-CBBC-40DF-9E68-6549BD09338B}" destId="{F9A41EE9-184E-403E-9B7E-C2476BB306B4}" srcOrd="0" destOrd="0" presId="urn:microsoft.com/office/officeart/2005/8/layout/hProcess11"/>
    <dgm:cxn modelId="{F97C1096-8129-49DE-BC68-71A7F2F86739}" type="presOf" srcId="{7F8B2F15-B77E-4F12-8354-157AC1939C5A}" destId="{F9F2CDB0-192A-4A54-8598-14E4C50F6CD4}" srcOrd="0" destOrd="0" presId="urn:microsoft.com/office/officeart/2005/8/layout/hProcess11"/>
    <dgm:cxn modelId="{005B69AA-D7B7-4C5D-B495-ACF7ADE4E378}" type="presOf" srcId="{0C2D8AAB-B849-4DF2-B853-62E72C5D67D3}" destId="{23DBBE3B-3BD7-4FAE-A247-43F94650BF9E}" srcOrd="0" destOrd="0" presId="urn:microsoft.com/office/officeart/2005/8/layout/hProcess11"/>
    <dgm:cxn modelId="{74A645C8-8905-4647-91A0-9F954BF93359}" srcId="{B667E1B8-FE1F-49EC-9357-DE8FB6DF4213}" destId="{7F8B2F15-B77E-4F12-8354-157AC1939C5A}" srcOrd="4" destOrd="0" parTransId="{CEF0083D-18F3-4849-B9D1-4CC61E82927D}" sibTransId="{E82EBDF9-47D7-4BCC-A2C5-79F08A3F9919}"/>
    <dgm:cxn modelId="{3052E7CF-56DC-4F22-BAF3-07BCA77F0C95}" type="presOf" srcId="{27679FED-6082-420F-9320-675F85F133AB}" destId="{F0C96E12-7D15-402F-863A-1BBACBE9FE04}" srcOrd="0" destOrd="0" presId="urn:microsoft.com/office/officeart/2005/8/layout/hProcess11"/>
    <dgm:cxn modelId="{78BA37D4-4855-4EB1-8288-EF8B69B0E461}" type="presOf" srcId="{77CCBDBC-8049-44EA-A911-72F1301A4179}" destId="{3D85DC99-BFEF-4ACD-BFBA-A860A4B71A91}" srcOrd="0" destOrd="0" presId="urn:microsoft.com/office/officeart/2005/8/layout/hProcess11"/>
    <dgm:cxn modelId="{F86555D8-E28A-402D-ADD5-7CAC4ED94917}" srcId="{B667E1B8-FE1F-49EC-9357-DE8FB6DF4213}" destId="{77CCBDBC-8049-44EA-A911-72F1301A4179}" srcOrd="7" destOrd="0" parTransId="{20F42588-46A0-4370-9DCF-9849CDF9C43A}" sibTransId="{DD611F6E-73B9-4F59-988E-67A38EAE7E1C}"/>
    <dgm:cxn modelId="{65B617DF-E829-47FB-B358-51E51C851E7B}" type="presOf" srcId="{B667E1B8-FE1F-49EC-9357-DE8FB6DF4213}" destId="{A1154CF9-2195-4583-8449-51F4B2DEDAB0}" srcOrd="0" destOrd="0" presId="urn:microsoft.com/office/officeart/2005/8/layout/hProcess11"/>
    <dgm:cxn modelId="{BB05A6E7-7685-42F7-A35F-3BFDC462C0A5}" srcId="{B667E1B8-FE1F-49EC-9357-DE8FB6DF4213}" destId="{8D135755-CBBC-40DF-9E68-6549BD09338B}" srcOrd="3" destOrd="0" parTransId="{99D2C085-E5E5-4B02-B9C9-1BE3BB56E1BD}" sibTransId="{AA415776-C1F1-4137-A729-3685CC66138D}"/>
    <dgm:cxn modelId="{BE22F0CD-8DB0-4A4B-9181-2B15B06902C3}" type="presParOf" srcId="{A1154CF9-2195-4583-8449-51F4B2DEDAB0}" destId="{5443175C-DD88-42D5-B7D8-CD8A575AEBC5}" srcOrd="0" destOrd="0" presId="urn:microsoft.com/office/officeart/2005/8/layout/hProcess11"/>
    <dgm:cxn modelId="{FF9C471C-1BE2-4819-BB39-274BF99FB931}" type="presParOf" srcId="{A1154CF9-2195-4583-8449-51F4B2DEDAB0}" destId="{D999CBCF-1BD1-4338-AA1C-61DF7E33D5BA}" srcOrd="1" destOrd="0" presId="urn:microsoft.com/office/officeart/2005/8/layout/hProcess11"/>
    <dgm:cxn modelId="{1A850A30-76A0-4AE1-A939-25F112CBA775}" type="presParOf" srcId="{D999CBCF-1BD1-4338-AA1C-61DF7E33D5BA}" destId="{D8B8FAA1-7D20-4B98-BB99-1EBD2B416715}" srcOrd="0" destOrd="0" presId="urn:microsoft.com/office/officeart/2005/8/layout/hProcess11"/>
    <dgm:cxn modelId="{D9B3C8C5-F332-46EF-9528-61EBE17DC2EC}" type="presParOf" srcId="{D8B8FAA1-7D20-4B98-BB99-1EBD2B416715}" destId="{7D379322-26B9-4315-8188-4834672D3072}" srcOrd="0" destOrd="0" presId="urn:microsoft.com/office/officeart/2005/8/layout/hProcess11"/>
    <dgm:cxn modelId="{1F88FDAD-DCCA-4971-B47A-1BBCC7C09165}" type="presParOf" srcId="{D8B8FAA1-7D20-4B98-BB99-1EBD2B416715}" destId="{6FA84C6E-AEA3-436B-8933-D14BFEA6DC93}" srcOrd="1" destOrd="0" presId="urn:microsoft.com/office/officeart/2005/8/layout/hProcess11"/>
    <dgm:cxn modelId="{E18BF1DC-546F-4150-B675-ED6F34995E1E}" type="presParOf" srcId="{D8B8FAA1-7D20-4B98-BB99-1EBD2B416715}" destId="{28D67DF8-5A3B-4C9A-92B1-0BAD453F0FB2}" srcOrd="2" destOrd="0" presId="urn:microsoft.com/office/officeart/2005/8/layout/hProcess11"/>
    <dgm:cxn modelId="{0CE25FA4-20AB-488E-9185-6AA1670618C9}" type="presParOf" srcId="{D999CBCF-1BD1-4338-AA1C-61DF7E33D5BA}" destId="{84CCF5E5-D83E-4E3A-A986-BE472F5D2CBD}" srcOrd="1" destOrd="0" presId="urn:microsoft.com/office/officeart/2005/8/layout/hProcess11"/>
    <dgm:cxn modelId="{82950282-6106-41B6-B79A-3F2149D9ACE7}" type="presParOf" srcId="{D999CBCF-1BD1-4338-AA1C-61DF7E33D5BA}" destId="{458F3644-BD4A-4B30-9E22-BF5A636C22B0}" srcOrd="2" destOrd="0" presId="urn:microsoft.com/office/officeart/2005/8/layout/hProcess11"/>
    <dgm:cxn modelId="{773E3A9F-F0F3-49C3-AB15-5EC7CC0B8BF6}" type="presParOf" srcId="{458F3644-BD4A-4B30-9E22-BF5A636C22B0}" destId="{23DBBE3B-3BD7-4FAE-A247-43F94650BF9E}" srcOrd="0" destOrd="0" presId="urn:microsoft.com/office/officeart/2005/8/layout/hProcess11"/>
    <dgm:cxn modelId="{68ED3480-19BB-4396-A50B-3EB8D0360CA2}" type="presParOf" srcId="{458F3644-BD4A-4B30-9E22-BF5A636C22B0}" destId="{857BB2D5-F06A-4554-83AD-A61C25FC7D14}" srcOrd="1" destOrd="0" presId="urn:microsoft.com/office/officeart/2005/8/layout/hProcess11"/>
    <dgm:cxn modelId="{D12DD1D4-74C6-4E9D-BAB0-CAD504C61985}" type="presParOf" srcId="{458F3644-BD4A-4B30-9E22-BF5A636C22B0}" destId="{6212E879-6AB4-4368-A3A9-C98A54C9144D}" srcOrd="2" destOrd="0" presId="urn:microsoft.com/office/officeart/2005/8/layout/hProcess11"/>
    <dgm:cxn modelId="{06497BCD-AF6E-4BEF-A7BB-F43554DB212B}" type="presParOf" srcId="{D999CBCF-1BD1-4338-AA1C-61DF7E33D5BA}" destId="{360D4D80-0620-4B6F-8457-0643F37B43F0}" srcOrd="3" destOrd="0" presId="urn:microsoft.com/office/officeart/2005/8/layout/hProcess11"/>
    <dgm:cxn modelId="{4D3279A6-50F6-4AEB-9BBC-D571366B2928}" type="presParOf" srcId="{D999CBCF-1BD1-4338-AA1C-61DF7E33D5BA}" destId="{8C25D467-E0F0-42D3-B324-D66005573504}" srcOrd="4" destOrd="0" presId="urn:microsoft.com/office/officeart/2005/8/layout/hProcess11"/>
    <dgm:cxn modelId="{58C1B32F-5AC7-4831-8E47-6DDF76E51E29}" type="presParOf" srcId="{8C25D467-E0F0-42D3-B324-D66005573504}" destId="{1588069F-E7B7-4ECB-9C87-80A64F42D24E}" srcOrd="0" destOrd="0" presId="urn:microsoft.com/office/officeart/2005/8/layout/hProcess11"/>
    <dgm:cxn modelId="{88CC9D67-AACD-4C0D-93A1-9C180AE17BCC}" type="presParOf" srcId="{8C25D467-E0F0-42D3-B324-D66005573504}" destId="{0A468EE7-04AB-4B41-BB2A-8F4B0DF6B6F9}" srcOrd="1" destOrd="0" presId="urn:microsoft.com/office/officeart/2005/8/layout/hProcess11"/>
    <dgm:cxn modelId="{236D1534-C1B5-4B68-B533-AEE4262D2E1C}" type="presParOf" srcId="{8C25D467-E0F0-42D3-B324-D66005573504}" destId="{D507ADA2-AC89-46AE-B0B5-B55F7949CD85}" srcOrd="2" destOrd="0" presId="urn:microsoft.com/office/officeart/2005/8/layout/hProcess11"/>
    <dgm:cxn modelId="{C1C34B44-1EC2-42E4-AA8C-66B673F1D1FC}" type="presParOf" srcId="{D999CBCF-1BD1-4338-AA1C-61DF7E33D5BA}" destId="{2DCCAF45-B0CC-4F57-8B58-5399A9313BD8}" srcOrd="5" destOrd="0" presId="urn:microsoft.com/office/officeart/2005/8/layout/hProcess11"/>
    <dgm:cxn modelId="{A36AD484-CA3C-4CC2-995C-AC426FFF4D42}" type="presParOf" srcId="{D999CBCF-1BD1-4338-AA1C-61DF7E33D5BA}" destId="{EF3E71E8-CA62-46FF-AE16-32ADAF6BE017}" srcOrd="6" destOrd="0" presId="urn:microsoft.com/office/officeart/2005/8/layout/hProcess11"/>
    <dgm:cxn modelId="{7A034E73-B445-4CB7-947F-8B6CF5DBAB60}" type="presParOf" srcId="{EF3E71E8-CA62-46FF-AE16-32ADAF6BE017}" destId="{F9A41EE9-184E-403E-9B7E-C2476BB306B4}" srcOrd="0" destOrd="0" presId="urn:microsoft.com/office/officeart/2005/8/layout/hProcess11"/>
    <dgm:cxn modelId="{1D20CE42-2CD6-49BF-B2ED-6CDF8B702A77}" type="presParOf" srcId="{EF3E71E8-CA62-46FF-AE16-32ADAF6BE017}" destId="{C36D6363-7219-46C7-BAC6-3C58A510233D}" srcOrd="1" destOrd="0" presId="urn:microsoft.com/office/officeart/2005/8/layout/hProcess11"/>
    <dgm:cxn modelId="{1E0FCFAF-7605-4E85-AE22-29108ACE630E}" type="presParOf" srcId="{EF3E71E8-CA62-46FF-AE16-32ADAF6BE017}" destId="{994D6EF3-7C58-458A-911C-5530999EF8D4}" srcOrd="2" destOrd="0" presId="urn:microsoft.com/office/officeart/2005/8/layout/hProcess11"/>
    <dgm:cxn modelId="{DCC6EFAD-6053-4670-83EF-22E53A02121D}" type="presParOf" srcId="{D999CBCF-1BD1-4338-AA1C-61DF7E33D5BA}" destId="{855B7B9E-4366-4631-BB8D-3C8D1AE1DA42}" srcOrd="7" destOrd="0" presId="urn:microsoft.com/office/officeart/2005/8/layout/hProcess11"/>
    <dgm:cxn modelId="{94BD7579-037A-4415-9426-49C655D041AD}" type="presParOf" srcId="{D999CBCF-1BD1-4338-AA1C-61DF7E33D5BA}" destId="{A707B839-D850-49AF-9428-8DD60280FD40}" srcOrd="8" destOrd="0" presId="urn:microsoft.com/office/officeart/2005/8/layout/hProcess11"/>
    <dgm:cxn modelId="{AD067067-A2CF-4828-8B54-C56B09470E1B}" type="presParOf" srcId="{A707B839-D850-49AF-9428-8DD60280FD40}" destId="{F9F2CDB0-192A-4A54-8598-14E4C50F6CD4}" srcOrd="0" destOrd="0" presId="urn:microsoft.com/office/officeart/2005/8/layout/hProcess11"/>
    <dgm:cxn modelId="{BCD697FD-A8AA-443F-8895-C08DF87BCB57}" type="presParOf" srcId="{A707B839-D850-49AF-9428-8DD60280FD40}" destId="{5273065D-174C-4D95-A65A-2B7868161458}" srcOrd="1" destOrd="0" presId="urn:microsoft.com/office/officeart/2005/8/layout/hProcess11"/>
    <dgm:cxn modelId="{68D9E90B-C042-45F9-B345-2FC1766B6805}" type="presParOf" srcId="{A707B839-D850-49AF-9428-8DD60280FD40}" destId="{40BDFFA8-28B1-4AB9-A8A7-3846DAFFDDB2}" srcOrd="2" destOrd="0" presId="urn:microsoft.com/office/officeart/2005/8/layout/hProcess11"/>
    <dgm:cxn modelId="{173F601F-9C26-498E-BB25-D2DFF359C772}" type="presParOf" srcId="{D999CBCF-1BD1-4338-AA1C-61DF7E33D5BA}" destId="{435D4D86-D2E5-4AB5-9DCA-8A7C136A4D2F}" srcOrd="9" destOrd="0" presId="urn:microsoft.com/office/officeart/2005/8/layout/hProcess11"/>
    <dgm:cxn modelId="{3F0937E6-0347-48D3-9C0B-A37381648F07}" type="presParOf" srcId="{D999CBCF-1BD1-4338-AA1C-61DF7E33D5BA}" destId="{350E4785-0560-49F6-96D3-197356A52C07}" srcOrd="10" destOrd="0" presId="urn:microsoft.com/office/officeart/2005/8/layout/hProcess11"/>
    <dgm:cxn modelId="{20E23408-9AC8-46F0-9F3D-E4FB85072951}" type="presParOf" srcId="{350E4785-0560-49F6-96D3-197356A52C07}" destId="{F0C96E12-7D15-402F-863A-1BBACBE9FE04}" srcOrd="0" destOrd="0" presId="urn:microsoft.com/office/officeart/2005/8/layout/hProcess11"/>
    <dgm:cxn modelId="{26B10689-7E58-4602-9195-D6A5511BDE88}" type="presParOf" srcId="{350E4785-0560-49F6-96D3-197356A52C07}" destId="{402BCE90-D784-4964-9B9D-771CED0BE9B7}" srcOrd="1" destOrd="0" presId="urn:microsoft.com/office/officeart/2005/8/layout/hProcess11"/>
    <dgm:cxn modelId="{F201B570-8D79-4967-A181-85D7285EE5B4}" type="presParOf" srcId="{350E4785-0560-49F6-96D3-197356A52C07}" destId="{8A2307BF-636C-42DB-A3E6-9C33FBA1C7D4}" srcOrd="2" destOrd="0" presId="urn:microsoft.com/office/officeart/2005/8/layout/hProcess11"/>
    <dgm:cxn modelId="{7962CA7E-8F6C-478C-B71B-D43F7DA00C20}" type="presParOf" srcId="{D999CBCF-1BD1-4338-AA1C-61DF7E33D5BA}" destId="{97CC7672-F9E0-4008-84A8-2371F70C4BF9}" srcOrd="11" destOrd="0" presId="urn:microsoft.com/office/officeart/2005/8/layout/hProcess11"/>
    <dgm:cxn modelId="{981847EB-E1A8-4AA2-899B-EB20152A6B01}" type="presParOf" srcId="{D999CBCF-1BD1-4338-AA1C-61DF7E33D5BA}" destId="{1BC1C8BD-8A12-4841-9C30-E41F74A6AE3B}" srcOrd="12" destOrd="0" presId="urn:microsoft.com/office/officeart/2005/8/layout/hProcess11"/>
    <dgm:cxn modelId="{1383F057-1110-4AB4-B491-05C281EC30B5}" type="presParOf" srcId="{1BC1C8BD-8A12-4841-9C30-E41F74A6AE3B}" destId="{A758FE2B-50F6-4284-8104-5850DDB9D826}" srcOrd="0" destOrd="0" presId="urn:microsoft.com/office/officeart/2005/8/layout/hProcess11"/>
    <dgm:cxn modelId="{AB0AB44F-47AF-42BB-9A7C-EC6F9644993E}" type="presParOf" srcId="{1BC1C8BD-8A12-4841-9C30-E41F74A6AE3B}" destId="{A666E19A-12D3-4BDD-A6D9-6976E5E45AA4}" srcOrd="1" destOrd="0" presId="urn:microsoft.com/office/officeart/2005/8/layout/hProcess11"/>
    <dgm:cxn modelId="{78FA5B27-761B-4E1D-B630-DC94B792EBE0}" type="presParOf" srcId="{1BC1C8BD-8A12-4841-9C30-E41F74A6AE3B}" destId="{02222175-6C73-4AF6-BCAE-6071B335262C}" srcOrd="2" destOrd="0" presId="urn:microsoft.com/office/officeart/2005/8/layout/hProcess11"/>
    <dgm:cxn modelId="{87312A0B-2676-432D-882E-D26906E90F99}" type="presParOf" srcId="{D999CBCF-1BD1-4338-AA1C-61DF7E33D5BA}" destId="{357F6FA2-AB89-43EC-8386-7F071723DEA8}" srcOrd="13" destOrd="0" presId="urn:microsoft.com/office/officeart/2005/8/layout/hProcess11"/>
    <dgm:cxn modelId="{EC39C613-CFEE-4E85-8184-A4FD59D73ADB}" type="presParOf" srcId="{D999CBCF-1BD1-4338-AA1C-61DF7E33D5BA}" destId="{79DADFAF-5325-4EF0-B663-0191E6267F72}" srcOrd="14" destOrd="0" presId="urn:microsoft.com/office/officeart/2005/8/layout/hProcess11"/>
    <dgm:cxn modelId="{3DCAE608-8AD1-434F-A95A-4350C1487BA8}" type="presParOf" srcId="{79DADFAF-5325-4EF0-B663-0191E6267F72}" destId="{3D85DC99-BFEF-4ACD-BFBA-A860A4B71A91}" srcOrd="0" destOrd="0" presId="urn:microsoft.com/office/officeart/2005/8/layout/hProcess11"/>
    <dgm:cxn modelId="{380D210E-1EBC-4395-A938-EABC6D9E92C4}" type="presParOf" srcId="{79DADFAF-5325-4EF0-B663-0191E6267F72}" destId="{9BD32F0C-788E-40B2-B455-46E3452C9D8A}" srcOrd="1" destOrd="0" presId="urn:microsoft.com/office/officeart/2005/8/layout/hProcess11"/>
    <dgm:cxn modelId="{ED72B360-CB15-43A8-AC75-DDB912E077F5}" type="presParOf" srcId="{79DADFAF-5325-4EF0-B663-0191E6267F72}" destId="{A88F541E-58C8-4167-B4F4-6E22013A3952}" srcOrd="2" destOrd="0" presId="urn:microsoft.com/office/officeart/2005/8/layout/hProcess1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43175C-DD88-42D5-B7D8-CD8A575AEBC5}">
      <dsp:nvSpPr>
        <dsp:cNvPr id="0" name=""/>
        <dsp:cNvSpPr/>
      </dsp:nvSpPr>
      <dsp:spPr>
        <a:xfrm>
          <a:off x="0" y="1218907"/>
          <a:ext cx="7846493" cy="1625210"/>
        </a:xfrm>
        <a:prstGeom prst="notched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D379322-26B9-4315-8188-4834672D3072}">
      <dsp:nvSpPr>
        <dsp:cNvPr id="0" name=""/>
        <dsp:cNvSpPr/>
      </dsp:nvSpPr>
      <dsp:spPr>
        <a:xfrm>
          <a:off x="5743" y="-19348"/>
          <a:ext cx="831717" cy="17026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008" tIns="64008" rIns="64008" bIns="64008" numCol="1" spcCol="1270" anchor="b" anchorCtr="0">
          <a:noAutofit/>
        </a:bodyPr>
        <a:lstStyle/>
        <a:p>
          <a:pPr marL="0" lvl="0" indent="0" algn="ctr" defTabSz="400050">
            <a:lnSpc>
              <a:spcPct val="90000"/>
            </a:lnSpc>
            <a:spcBef>
              <a:spcPct val="0"/>
            </a:spcBef>
            <a:spcAft>
              <a:spcPct val="35000"/>
            </a:spcAft>
            <a:buNone/>
          </a:pPr>
          <a:r>
            <a:rPr lang="en-IN" sz="900" b="1" kern="1200">
              <a:latin typeface="Times New Roman" panose="02020603050405020304" pitchFamily="18" charset="0"/>
              <a:cs typeface="Times New Roman" panose="02020603050405020304" pitchFamily="18" charset="0"/>
            </a:rPr>
            <a:t>Phase 1</a:t>
          </a:r>
        </a:p>
        <a:p>
          <a:pPr marL="0" lvl="0" indent="0" algn="ctr" defTabSz="400050">
            <a:lnSpc>
              <a:spcPct val="90000"/>
            </a:lnSpc>
            <a:spcBef>
              <a:spcPct val="0"/>
            </a:spcBef>
            <a:spcAft>
              <a:spcPct val="35000"/>
            </a:spcAft>
            <a:buNone/>
          </a:pPr>
          <a:r>
            <a:rPr lang="en-IN" sz="900" b="1" kern="1200">
              <a:latin typeface="Times New Roman" panose="02020603050405020304" pitchFamily="18" charset="0"/>
              <a:cs typeface="Times New Roman" panose="02020603050405020304" pitchFamily="18" charset="0"/>
            </a:rPr>
            <a:t>(15th Jan)-</a:t>
          </a:r>
        </a:p>
        <a:p>
          <a:pPr marL="0" lvl="0" indent="0" algn="ctr" defTabSz="400050">
            <a:lnSpc>
              <a:spcPct val="90000"/>
            </a:lnSpc>
            <a:spcBef>
              <a:spcPct val="0"/>
            </a:spcBef>
            <a:spcAft>
              <a:spcPct val="35000"/>
            </a:spcAft>
            <a:buNone/>
          </a:pPr>
          <a:endParaRPr lang="en-IN" sz="900" b="1" kern="1200">
            <a:latin typeface="Times New Roman" panose="02020603050405020304" pitchFamily="18" charset="0"/>
            <a:cs typeface="Times New Roman" panose="02020603050405020304" pitchFamily="18" charset="0"/>
          </a:endParaRPr>
        </a:p>
        <a:p>
          <a:pPr marL="0" lvl="0" indent="0" algn="ctr" defTabSz="400050">
            <a:lnSpc>
              <a:spcPct val="90000"/>
            </a:lnSpc>
            <a:spcBef>
              <a:spcPct val="0"/>
            </a:spcBef>
            <a:spcAft>
              <a:spcPct val="35000"/>
            </a:spcAft>
            <a:buNone/>
          </a:pPr>
          <a:r>
            <a:rPr lang="en-IN" sz="900" kern="1200">
              <a:latin typeface="Times New Roman" panose="02020603050405020304" pitchFamily="18" charset="0"/>
              <a:cs typeface="Times New Roman" panose="02020603050405020304" pitchFamily="18" charset="0"/>
            </a:rPr>
            <a:t>UI/UX Design &amp; Report Analysis Model Training</a:t>
          </a:r>
        </a:p>
      </dsp:txBody>
      <dsp:txXfrm>
        <a:off x="5743" y="-19348"/>
        <a:ext cx="831717" cy="1702602"/>
      </dsp:txXfrm>
    </dsp:sp>
    <dsp:sp modelId="{6FA84C6E-AEA3-436B-8933-D14BFEA6DC93}">
      <dsp:nvSpPr>
        <dsp:cNvPr id="0" name=""/>
        <dsp:cNvSpPr/>
      </dsp:nvSpPr>
      <dsp:spPr>
        <a:xfrm>
          <a:off x="218451" y="1847709"/>
          <a:ext cx="406302" cy="406302"/>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3DBBE3B-3BD7-4FAE-A247-43F94650BF9E}">
      <dsp:nvSpPr>
        <dsp:cNvPr id="0" name=""/>
        <dsp:cNvSpPr/>
      </dsp:nvSpPr>
      <dsp:spPr>
        <a:xfrm>
          <a:off x="865148" y="2437815"/>
          <a:ext cx="965531" cy="16252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008" tIns="64008" rIns="64008" bIns="64008" numCol="1" spcCol="1270" anchor="t" anchorCtr="0">
          <a:noAutofit/>
        </a:bodyPr>
        <a:lstStyle/>
        <a:p>
          <a:pPr marL="0" lvl="0" indent="0" algn="ctr" defTabSz="400050">
            <a:lnSpc>
              <a:spcPct val="90000"/>
            </a:lnSpc>
            <a:spcBef>
              <a:spcPct val="0"/>
            </a:spcBef>
            <a:spcAft>
              <a:spcPct val="35000"/>
            </a:spcAft>
            <a:buNone/>
          </a:pPr>
          <a:r>
            <a:rPr lang="en-IN" sz="900" b="1" kern="1200">
              <a:latin typeface="Times New Roman" panose="02020603050405020304" pitchFamily="18" charset="0"/>
              <a:cs typeface="Times New Roman" panose="02020603050405020304" pitchFamily="18" charset="0"/>
            </a:rPr>
            <a:t>Phase 2 </a:t>
          </a:r>
        </a:p>
        <a:p>
          <a:pPr marL="0" lvl="0" indent="0" algn="ctr" defTabSz="400050">
            <a:lnSpc>
              <a:spcPct val="90000"/>
            </a:lnSpc>
            <a:spcBef>
              <a:spcPct val="0"/>
            </a:spcBef>
            <a:spcAft>
              <a:spcPct val="35000"/>
            </a:spcAft>
            <a:buNone/>
          </a:pPr>
          <a:r>
            <a:rPr lang="en-IN" sz="900" b="1" kern="1200">
              <a:latin typeface="Times New Roman" panose="02020603050405020304" pitchFamily="18" charset="0"/>
              <a:cs typeface="Times New Roman" panose="02020603050405020304" pitchFamily="18" charset="0"/>
            </a:rPr>
            <a:t>(1st Feb)-</a:t>
          </a:r>
        </a:p>
        <a:p>
          <a:pPr marL="0" lvl="0" indent="0" algn="ctr" defTabSz="400050">
            <a:lnSpc>
              <a:spcPct val="90000"/>
            </a:lnSpc>
            <a:spcBef>
              <a:spcPct val="0"/>
            </a:spcBef>
            <a:spcAft>
              <a:spcPct val="35000"/>
            </a:spcAft>
            <a:buNone/>
          </a:pPr>
          <a:endParaRPr lang="en-IN" sz="900" b="1" kern="1200">
            <a:latin typeface="Times New Roman" panose="02020603050405020304" pitchFamily="18" charset="0"/>
            <a:cs typeface="Times New Roman" panose="02020603050405020304" pitchFamily="18" charset="0"/>
          </a:endParaRPr>
        </a:p>
        <a:p>
          <a:pPr marL="0" lvl="0" indent="0" algn="ctr" defTabSz="400050">
            <a:lnSpc>
              <a:spcPct val="90000"/>
            </a:lnSpc>
            <a:spcBef>
              <a:spcPct val="0"/>
            </a:spcBef>
            <a:spcAft>
              <a:spcPct val="35000"/>
            </a:spcAft>
            <a:buNone/>
          </a:pPr>
          <a:r>
            <a:rPr lang="en-IN" sz="900" kern="1200">
              <a:latin typeface="Times New Roman" panose="02020603050405020304" pitchFamily="18" charset="0"/>
              <a:cs typeface="Times New Roman" panose="02020603050405020304" pitchFamily="18" charset="0"/>
            </a:rPr>
            <a:t>OCR Integration &amp; Implementing of Report Analysis Model on the website</a:t>
          </a:r>
        </a:p>
      </dsp:txBody>
      <dsp:txXfrm>
        <a:off x="865148" y="2437815"/>
        <a:ext cx="965531" cy="1625210"/>
      </dsp:txXfrm>
    </dsp:sp>
    <dsp:sp modelId="{857BB2D5-F06A-4554-83AD-A61C25FC7D14}">
      <dsp:nvSpPr>
        <dsp:cNvPr id="0" name=""/>
        <dsp:cNvSpPr/>
      </dsp:nvSpPr>
      <dsp:spPr>
        <a:xfrm>
          <a:off x="1144763" y="1828361"/>
          <a:ext cx="406302" cy="406302"/>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588069F-E7B7-4ECB-9C87-80A64F42D24E}">
      <dsp:nvSpPr>
        <dsp:cNvPr id="0" name=""/>
        <dsp:cNvSpPr/>
      </dsp:nvSpPr>
      <dsp:spPr>
        <a:xfrm>
          <a:off x="1858368" y="0"/>
          <a:ext cx="798974" cy="16252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008" tIns="64008" rIns="64008" bIns="64008" numCol="1" spcCol="1270" anchor="b" anchorCtr="0">
          <a:noAutofit/>
        </a:bodyPr>
        <a:lstStyle/>
        <a:p>
          <a:pPr marL="0" lvl="0" indent="0" algn="ctr" defTabSz="400050">
            <a:lnSpc>
              <a:spcPct val="90000"/>
            </a:lnSpc>
            <a:spcBef>
              <a:spcPct val="0"/>
            </a:spcBef>
            <a:spcAft>
              <a:spcPct val="35000"/>
            </a:spcAft>
            <a:buNone/>
          </a:pPr>
          <a:r>
            <a:rPr lang="en-IN" sz="900" b="1" kern="1200">
              <a:latin typeface="Times New Roman" panose="02020603050405020304" pitchFamily="18" charset="0"/>
              <a:cs typeface="Times New Roman" panose="02020603050405020304" pitchFamily="18" charset="0"/>
            </a:rPr>
            <a:t>Phase 3 (15th Feb)-</a:t>
          </a:r>
        </a:p>
        <a:p>
          <a:pPr marL="0" lvl="0" indent="0" algn="ctr" defTabSz="400050">
            <a:lnSpc>
              <a:spcPct val="90000"/>
            </a:lnSpc>
            <a:spcBef>
              <a:spcPct val="0"/>
            </a:spcBef>
            <a:spcAft>
              <a:spcPct val="35000"/>
            </a:spcAft>
            <a:buNone/>
          </a:pPr>
          <a:endParaRPr lang="en-IN" sz="900" b="1" kern="1200">
            <a:latin typeface="Times New Roman" panose="02020603050405020304" pitchFamily="18" charset="0"/>
            <a:cs typeface="Times New Roman" panose="02020603050405020304" pitchFamily="18" charset="0"/>
          </a:endParaRPr>
        </a:p>
        <a:p>
          <a:pPr marL="0" lvl="0" indent="0" algn="ctr" defTabSz="400050">
            <a:lnSpc>
              <a:spcPct val="90000"/>
            </a:lnSpc>
            <a:spcBef>
              <a:spcPct val="0"/>
            </a:spcBef>
            <a:spcAft>
              <a:spcPct val="35000"/>
            </a:spcAft>
            <a:buNone/>
          </a:pPr>
          <a:r>
            <a:rPr lang="en-IN" sz="900" kern="1200">
              <a:latin typeface="Times New Roman" panose="02020603050405020304" pitchFamily="18" charset="0"/>
              <a:cs typeface="Times New Roman" panose="02020603050405020304" pitchFamily="18" charset="0"/>
            </a:rPr>
            <a:t>Medicine Scanner Model Training</a:t>
          </a:r>
        </a:p>
      </dsp:txBody>
      <dsp:txXfrm>
        <a:off x="1858368" y="0"/>
        <a:ext cx="798974" cy="1625210"/>
      </dsp:txXfrm>
    </dsp:sp>
    <dsp:sp modelId="{0A468EE7-04AB-4B41-BB2A-8F4B0DF6B6F9}">
      <dsp:nvSpPr>
        <dsp:cNvPr id="0" name=""/>
        <dsp:cNvSpPr/>
      </dsp:nvSpPr>
      <dsp:spPr>
        <a:xfrm>
          <a:off x="2054704" y="1828361"/>
          <a:ext cx="406302" cy="406302"/>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9A41EE9-184E-403E-9B7E-C2476BB306B4}">
      <dsp:nvSpPr>
        <dsp:cNvPr id="0" name=""/>
        <dsp:cNvSpPr/>
      </dsp:nvSpPr>
      <dsp:spPr>
        <a:xfrm>
          <a:off x="2685030" y="2437815"/>
          <a:ext cx="875774" cy="16252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008" tIns="64008" rIns="64008" bIns="64008" numCol="1" spcCol="1270" anchor="t" anchorCtr="0">
          <a:noAutofit/>
        </a:bodyPr>
        <a:lstStyle/>
        <a:p>
          <a:pPr marL="0" lvl="0" indent="0" algn="ctr" defTabSz="400050">
            <a:lnSpc>
              <a:spcPct val="90000"/>
            </a:lnSpc>
            <a:spcBef>
              <a:spcPct val="0"/>
            </a:spcBef>
            <a:spcAft>
              <a:spcPct val="35000"/>
            </a:spcAft>
            <a:buNone/>
          </a:pPr>
          <a:r>
            <a:rPr lang="en-IN" sz="900" b="1" kern="1200">
              <a:latin typeface="Times New Roman" panose="02020603050405020304" pitchFamily="18" charset="0"/>
              <a:cs typeface="Times New Roman" panose="02020603050405020304" pitchFamily="18" charset="0"/>
            </a:rPr>
            <a:t>Phase 4</a:t>
          </a:r>
        </a:p>
        <a:p>
          <a:pPr marL="0" lvl="0" indent="0" algn="ctr" defTabSz="400050">
            <a:lnSpc>
              <a:spcPct val="90000"/>
            </a:lnSpc>
            <a:spcBef>
              <a:spcPct val="0"/>
            </a:spcBef>
            <a:spcAft>
              <a:spcPct val="35000"/>
            </a:spcAft>
            <a:buNone/>
          </a:pPr>
          <a:r>
            <a:rPr lang="en-IN" sz="900" b="1" kern="1200">
              <a:latin typeface="Times New Roman" panose="02020603050405020304" pitchFamily="18" charset="0"/>
              <a:cs typeface="Times New Roman" panose="02020603050405020304" pitchFamily="18" charset="0"/>
            </a:rPr>
            <a:t> (1st Mar)-</a:t>
          </a:r>
        </a:p>
        <a:p>
          <a:pPr marL="0" lvl="0" indent="0" algn="ctr" defTabSz="400050">
            <a:lnSpc>
              <a:spcPct val="90000"/>
            </a:lnSpc>
            <a:spcBef>
              <a:spcPct val="0"/>
            </a:spcBef>
            <a:spcAft>
              <a:spcPct val="35000"/>
            </a:spcAft>
            <a:buNone/>
          </a:pPr>
          <a:r>
            <a:rPr lang="en-IN" sz="900" b="1" kern="1200">
              <a:latin typeface="Times New Roman" panose="02020603050405020304" pitchFamily="18" charset="0"/>
              <a:cs typeface="Times New Roman" panose="02020603050405020304" pitchFamily="18" charset="0"/>
            </a:rPr>
            <a:t> </a:t>
          </a:r>
          <a:r>
            <a:rPr lang="en-IN" sz="900" kern="1200">
              <a:latin typeface="Times New Roman" panose="02020603050405020304" pitchFamily="18" charset="0"/>
              <a:cs typeface="Times New Roman" panose="02020603050405020304" pitchFamily="18" charset="0"/>
            </a:rPr>
            <a:t>Implementing the Medicine Scanner on the website</a:t>
          </a:r>
        </a:p>
      </dsp:txBody>
      <dsp:txXfrm>
        <a:off x="2685030" y="2437815"/>
        <a:ext cx="875774" cy="1625210"/>
      </dsp:txXfrm>
    </dsp:sp>
    <dsp:sp modelId="{C36D6363-7219-46C7-BAC6-3C58A510233D}">
      <dsp:nvSpPr>
        <dsp:cNvPr id="0" name=""/>
        <dsp:cNvSpPr/>
      </dsp:nvSpPr>
      <dsp:spPr>
        <a:xfrm>
          <a:off x="2919766" y="1828361"/>
          <a:ext cx="406302" cy="406302"/>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9F2CDB0-192A-4A54-8598-14E4C50F6CD4}">
      <dsp:nvSpPr>
        <dsp:cNvPr id="0" name=""/>
        <dsp:cNvSpPr/>
      </dsp:nvSpPr>
      <dsp:spPr>
        <a:xfrm>
          <a:off x="3588492" y="0"/>
          <a:ext cx="877983" cy="16252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008" tIns="64008" rIns="64008" bIns="64008" numCol="1" spcCol="1270" anchor="b" anchorCtr="0">
          <a:noAutofit/>
        </a:bodyPr>
        <a:lstStyle/>
        <a:p>
          <a:pPr marL="0" lvl="0" indent="0" algn="ctr" defTabSz="400050">
            <a:lnSpc>
              <a:spcPct val="90000"/>
            </a:lnSpc>
            <a:spcBef>
              <a:spcPct val="0"/>
            </a:spcBef>
            <a:spcAft>
              <a:spcPct val="35000"/>
            </a:spcAft>
            <a:buNone/>
          </a:pPr>
          <a:r>
            <a:rPr lang="en-IN" sz="900" b="1" kern="1200">
              <a:latin typeface="Times New Roman" panose="02020603050405020304" pitchFamily="18" charset="0"/>
              <a:cs typeface="Times New Roman" panose="02020603050405020304" pitchFamily="18" charset="0"/>
            </a:rPr>
            <a:t>Phase 5 (15th Mar)-</a:t>
          </a:r>
        </a:p>
        <a:p>
          <a:pPr marL="0" lvl="0" indent="0" algn="ctr" defTabSz="400050">
            <a:lnSpc>
              <a:spcPct val="90000"/>
            </a:lnSpc>
            <a:spcBef>
              <a:spcPct val="0"/>
            </a:spcBef>
            <a:spcAft>
              <a:spcPct val="35000"/>
            </a:spcAft>
            <a:buNone/>
          </a:pPr>
          <a:r>
            <a:rPr lang="en-IN" sz="900" b="1" kern="1200">
              <a:latin typeface="Times New Roman" panose="02020603050405020304" pitchFamily="18" charset="0"/>
              <a:cs typeface="Times New Roman" panose="02020603050405020304" pitchFamily="18" charset="0"/>
            </a:rPr>
            <a:t> </a:t>
          </a:r>
          <a:r>
            <a:rPr lang="en-IN" sz="900" kern="1200">
              <a:latin typeface="Times New Roman" panose="02020603050405020304" pitchFamily="18" charset="0"/>
              <a:cs typeface="Times New Roman" panose="02020603050405020304" pitchFamily="18" charset="0"/>
            </a:rPr>
            <a:t>Dietary plan &amp; Symptom checker Model creation</a:t>
          </a:r>
        </a:p>
      </dsp:txBody>
      <dsp:txXfrm>
        <a:off x="3588492" y="0"/>
        <a:ext cx="877983" cy="1625210"/>
      </dsp:txXfrm>
    </dsp:sp>
    <dsp:sp modelId="{5273065D-174C-4D95-A65A-2B7868161458}">
      <dsp:nvSpPr>
        <dsp:cNvPr id="0" name=""/>
        <dsp:cNvSpPr/>
      </dsp:nvSpPr>
      <dsp:spPr>
        <a:xfrm>
          <a:off x="3824333" y="1828361"/>
          <a:ext cx="406302" cy="406302"/>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0C96E12-7D15-402F-863A-1BBACBE9FE04}">
      <dsp:nvSpPr>
        <dsp:cNvPr id="0" name=""/>
        <dsp:cNvSpPr/>
      </dsp:nvSpPr>
      <dsp:spPr>
        <a:xfrm>
          <a:off x="4494164" y="2437815"/>
          <a:ext cx="841076" cy="16252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008" tIns="64008" rIns="64008" bIns="64008" numCol="1" spcCol="1270" anchor="t" anchorCtr="0">
          <a:noAutofit/>
        </a:bodyPr>
        <a:lstStyle/>
        <a:p>
          <a:pPr marL="0" lvl="0" indent="0" algn="ctr" defTabSz="400050">
            <a:lnSpc>
              <a:spcPct val="90000"/>
            </a:lnSpc>
            <a:spcBef>
              <a:spcPct val="0"/>
            </a:spcBef>
            <a:spcAft>
              <a:spcPct val="35000"/>
            </a:spcAft>
            <a:buNone/>
          </a:pPr>
          <a:r>
            <a:rPr lang="en-IN" sz="900" b="1" kern="1200" dirty="0">
              <a:latin typeface="Times New Roman" panose="02020603050405020304" pitchFamily="18" charset="0"/>
              <a:cs typeface="Times New Roman" panose="02020603050405020304" pitchFamily="18" charset="0"/>
            </a:rPr>
            <a:t>Phase 6 </a:t>
          </a:r>
        </a:p>
        <a:p>
          <a:pPr marL="0" lvl="0" indent="0" algn="ctr" defTabSz="400050">
            <a:lnSpc>
              <a:spcPct val="90000"/>
            </a:lnSpc>
            <a:spcBef>
              <a:spcPct val="0"/>
            </a:spcBef>
            <a:spcAft>
              <a:spcPct val="35000"/>
            </a:spcAft>
            <a:buNone/>
          </a:pPr>
          <a:r>
            <a:rPr lang="en-IN" sz="900" b="1" kern="1200" dirty="0">
              <a:latin typeface="Times New Roman" panose="02020603050405020304" pitchFamily="18" charset="0"/>
              <a:cs typeface="Times New Roman" panose="02020603050405020304" pitchFamily="18" charset="0"/>
            </a:rPr>
            <a:t>(1st Apr)-</a:t>
          </a:r>
        </a:p>
        <a:p>
          <a:pPr marL="0" lvl="0" indent="0" algn="ctr" defTabSz="400050">
            <a:lnSpc>
              <a:spcPct val="90000"/>
            </a:lnSpc>
            <a:spcBef>
              <a:spcPct val="0"/>
            </a:spcBef>
            <a:spcAft>
              <a:spcPct val="35000"/>
            </a:spcAft>
            <a:buNone/>
          </a:pPr>
          <a:endParaRPr lang="en-IN" sz="900" b="1" kern="1200" dirty="0">
            <a:latin typeface="Times New Roman" panose="02020603050405020304" pitchFamily="18" charset="0"/>
            <a:cs typeface="Times New Roman" panose="02020603050405020304" pitchFamily="18" charset="0"/>
          </a:endParaRPr>
        </a:p>
        <a:p>
          <a:pPr marL="0" lvl="0" indent="0" algn="ctr" defTabSz="400050">
            <a:lnSpc>
              <a:spcPct val="90000"/>
            </a:lnSpc>
            <a:spcBef>
              <a:spcPct val="0"/>
            </a:spcBef>
            <a:spcAft>
              <a:spcPct val="35000"/>
            </a:spcAft>
            <a:buNone/>
          </a:pPr>
          <a:r>
            <a:rPr lang="en-IN" sz="900" kern="1200" dirty="0">
              <a:latin typeface="Times New Roman" panose="02020603050405020304" pitchFamily="18" charset="0"/>
              <a:cs typeface="Times New Roman" panose="02020603050405020304" pitchFamily="18" charset="0"/>
            </a:rPr>
            <a:t>Implementing the of Dietary plans and Symptom checker model on the website</a:t>
          </a:r>
        </a:p>
      </dsp:txBody>
      <dsp:txXfrm>
        <a:off x="4494164" y="2437815"/>
        <a:ext cx="841076" cy="1625210"/>
      </dsp:txXfrm>
    </dsp:sp>
    <dsp:sp modelId="{402BCE90-D784-4964-9B9D-771CED0BE9B7}">
      <dsp:nvSpPr>
        <dsp:cNvPr id="0" name=""/>
        <dsp:cNvSpPr/>
      </dsp:nvSpPr>
      <dsp:spPr>
        <a:xfrm>
          <a:off x="4711550" y="1828361"/>
          <a:ext cx="406302" cy="406302"/>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758FE2B-50F6-4284-8104-5850DDB9D826}">
      <dsp:nvSpPr>
        <dsp:cNvPr id="0" name=""/>
        <dsp:cNvSpPr/>
      </dsp:nvSpPr>
      <dsp:spPr>
        <a:xfrm>
          <a:off x="5362927" y="0"/>
          <a:ext cx="828328" cy="16252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008" tIns="64008" rIns="64008" bIns="64008" numCol="1" spcCol="1270" anchor="b" anchorCtr="0">
          <a:noAutofit/>
        </a:bodyPr>
        <a:lstStyle/>
        <a:p>
          <a:pPr marL="0" lvl="0" indent="0" algn="ctr" defTabSz="400050">
            <a:lnSpc>
              <a:spcPct val="90000"/>
            </a:lnSpc>
            <a:spcBef>
              <a:spcPct val="0"/>
            </a:spcBef>
            <a:spcAft>
              <a:spcPct val="35000"/>
            </a:spcAft>
            <a:buNone/>
          </a:pPr>
          <a:r>
            <a:rPr lang="en-IN" sz="900" b="1" kern="1200" dirty="0">
              <a:latin typeface="Times New Roman" panose="02020603050405020304" pitchFamily="18" charset="0"/>
              <a:cs typeface="Times New Roman" panose="02020603050405020304" pitchFamily="18" charset="0"/>
            </a:rPr>
            <a:t>Phase 7 (14th Apr)-</a:t>
          </a:r>
        </a:p>
        <a:p>
          <a:pPr marL="0" lvl="0" indent="0" algn="ctr" defTabSz="400050">
            <a:lnSpc>
              <a:spcPct val="90000"/>
            </a:lnSpc>
            <a:spcBef>
              <a:spcPct val="0"/>
            </a:spcBef>
            <a:spcAft>
              <a:spcPct val="35000"/>
            </a:spcAft>
            <a:buNone/>
          </a:pPr>
          <a:r>
            <a:rPr lang="en-IN" sz="900" b="1" kern="1200" dirty="0">
              <a:latin typeface="Times New Roman" panose="02020603050405020304" pitchFamily="18" charset="0"/>
              <a:cs typeface="Times New Roman" panose="02020603050405020304" pitchFamily="18" charset="0"/>
            </a:rPr>
            <a:t> </a:t>
          </a:r>
          <a:r>
            <a:rPr lang="en-IN" sz="900" kern="1200" dirty="0">
              <a:latin typeface="Times New Roman" panose="02020603050405020304" pitchFamily="18" charset="0"/>
              <a:cs typeface="Times New Roman" panose="02020603050405020304" pitchFamily="18" charset="0"/>
            </a:rPr>
            <a:t>Testing &amp; Evaluation of all the Models</a:t>
          </a:r>
        </a:p>
      </dsp:txBody>
      <dsp:txXfrm>
        <a:off x="5362927" y="0"/>
        <a:ext cx="828328" cy="1625210"/>
      </dsp:txXfrm>
    </dsp:sp>
    <dsp:sp modelId="{A666E19A-12D3-4BDD-A6D9-6976E5E45AA4}">
      <dsp:nvSpPr>
        <dsp:cNvPr id="0" name=""/>
        <dsp:cNvSpPr/>
      </dsp:nvSpPr>
      <dsp:spPr>
        <a:xfrm>
          <a:off x="5573941" y="1828361"/>
          <a:ext cx="406302" cy="406302"/>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D85DC99-BFEF-4ACD-BFBA-A860A4B71A91}">
      <dsp:nvSpPr>
        <dsp:cNvPr id="0" name=""/>
        <dsp:cNvSpPr/>
      </dsp:nvSpPr>
      <dsp:spPr>
        <a:xfrm>
          <a:off x="6218944" y="2437815"/>
          <a:ext cx="837155" cy="16252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008" tIns="64008" rIns="64008" bIns="64008" numCol="1" spcCol="1270" anchor="t" anchorCtr="0">
          <a:noAutofit/>
        </a:bodyPr>
        <a:lstStyle/>
        <a:p>
          <a:pPr marL="0" lvl="0" indent="0" algn="ctr" defTabSz="400050">
            <a:lnSpc>
              <a:spcPct val="90000"/>
            </a:lnSpc>
            <a:spcBef>
              <a:spcPct val="0"/>
            </a:spcBef>
            <a:spcAft>
              <a:spcPct val="35000"/>
            </a:spcAft>
            <a:buNone/>
          </a:pPr>
          <a:r>
            <a:rPr lang="en-IN" sz="900" b="1" kern="1200" dirty="0">
              <a:latin typeface="Times New Roman" panose="02020603050405020304" pitchFamily="18" charset="0"/>
              <a:cs typeface="Times New Roman" panose="02020603050405020304" pitchFamily="18" charset="0"/>
            </a:rPr>
            <a:t>Phase 8 </a:t>
          </a:r>
        </a:p>
        <a:p>
          <a:pPr marL="0" lvl="0" indent="0" algn="ctr" defTabSz="400050">
            <a:lnSpc>
              <a:spcPct val="90000"/>
            </a:lnSpc>
            <a:spcBef>
              <a:spcPct val="0"/>
            </a:spcBef>
            <a:spcAft>
              <a:spcPct val="35000"/>
            </a:spcAft>
            <a:buNone/>
          </a:pPr>
          <a:r>
            <a:rPr lang="en-IN" sz="900" b="1" kern="1200" dirty="0">
              <a:latin typeface="Times New Roman" panose="02020603050405020304" pitchFamily="18" charset="0"/>
              <a:cs typeface="Times New Roman" panose="02020603050405020304" pitchFamily="18" charset="0"/>
            </a:rPr>
            <a:t>(26</a:t>
          </a:r>
          <a:r>
            <a:rPr lang="en-IN" sz="900" b="1" kern="1200" baseline="30000" dirty="0">
              <a:latin typeface="Times New Roman" panose="02020603050405020304" pitchFamily="18" charset="0"/>
              <a:cs typeface="Times New Roman" panose="02020603050405020304" pitchFamily="18" charset="0"/>
            </a:rPr>
            <a:t>th</a:t>
          </a:r>
          <a:r>
            <a:rPr lang="en-IN" sz="900" b="1" kern="1200" dirty="0">
              <a:latin typeface="Times New Roman" panose="02020603050405020304" pitchFamily="18" charset="0"/>
              <a:cs typeface="Times New Roman" panose="02020603050405020304" pitchFamily="18" charset="0"/>
            </a:rPr>
            <a:t> April)-</a:t>
          </a:r>
        </a:p>
        <a:p>
          <a:pPr marL="0" lvl="0" indent="0" algn="ctr" defTabSz="400050">
            <a:lnSpc>
              <a:spcPct val="90000"/>
            </a:lnSpc>
            <a:spcBef>
              <a:spcPct val="0"/>
            </a:spcBef>
            <a:spcAft>
              <a:spcPct val="35000"/>
            </a:spcAft>
            <a:buNone/>
          </a:pPr>
          <a:r>
            <a:rPr lang="en-IN" sz="900" b="1" kern="1200" dirty="0">
              <a:latin typeface="Times New Roman" panose="02020603050405020304" pitchFamily="18" charset="0"/>
              <a:cs typeface="Times New Roman" panose="02020603050405020304" pitchFamily="18" charset="0"/>
            </a:rPr>
            <a:t> </a:t>
          </a:r>
          <a:r>
            <a:rPr lang="en-IN" sz="900" kern="1200" dirty="0">
              <a:latin typeface="Times New Roman" panose="02020603050405020304" pitchFamily="18" charset="0"/>
              <a:cs typeface="Times New Roman" panose="02020603050405020304" pitchFamily="18" charset="0"/>
            </a:rPr>
            <a:t>Deployment of the web application</a:t>
          </a:r>
        </a:p>
      </dsp:txBody>
      <dsp:txXfrm>
        <a:off x="6218944" y="2437815"/>
        <a:ext cx="837155" cy="1625210"/>
      </dsp:txXfrm>
    </dsp:sp>
    <dsp:sp modelId="{9BD32F0C-788E-40B2-B455-46E3452C9D8A}">
      <dsp:nvSpPr>
        <dsp:cNvPr id="0" name=""/>
        <dsp:cNvSpPr/>
      </dsp:nvSpPr>
      <dsp:spPr>
        <a:xfrm>
          <a:off x="6434371" y="1828361"/>
          <a:ext cx="406302" cy="406302"/>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29837" cy="498852"/>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29761" y="0"/>
            <a:ext cx="2929837" cy="498852"/>
          </a:xfrm>
          <a:prstGeom prst="rect">
            <a:avLst/>
          </a:prstGeom>
        </p:spPr>
        <p:txBody>
          <a:bodyPr vert="horz" lIns="91440" tIns="45720" rIns="91440" bIns="45720" rtlCol="0"/>
          <a:lstStyle>
            <a:lvl1pPr algn="r">
              <a:defRPr sz="1200"/>
            </a:lvl1pPr>
          </a:lstStyle>
          <a:p>
            <a:fld id="{42668431-CD35-4516-818D-B41B2C4843CF}" type="datetimeFigureOut">
              <a:rPr lang="en-IN" smtClean="0"/>
              <a:t>01-05-2025</a:t>
            </a:fld>
            <a:endParaRPr lang="en-IN"/>
          </a:p>
        </p:txBody>
      </p:sp>
      <p:sp>
        <p:nvSpPr>
          <p:cNvPr id="4" name="Slide Image Placeholder 3"/>
          <p:cNvSpPr>
            <a:spLocks noGrp="1" noRot="1" noChangeAspect="1"/>
          </p:cNvSpPr>
          <p:nvPr>
            <p:ph type="sldImg" idx="2"/>
          </p:nvPr>
        </p:nvSpPr>
        <p:spPr>
          <a:xfrm>
            <a:off x="1144588" y="1243013"/>
            <a:ext cx="4471987" cy="33559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76117" y="4784835"/>
            <a:ext cx="5408930" cy="391486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443662"/>
            <a:ext cx="2929837" cy="498851"/>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29761" y="9443662"/>
            <a:ext cx="2929837" cy="498851"/>
          </a:xfrm>
          <a:prstGeom prst="rect">
            <a:avLst/>
          </a:prstGeom>
        </p:spPr>
        <p:txBody>
          <a:bodyPr vert="horz" lIns="91440" tIns="45720" rIns="91440" bIns="45720" rtlCol="0" anchor="b"/>
          <a:lstStyle>
            <a:lvl1pPr algn="r">
              <a:defRPr sz="1200"/>
            </a:lvl1pPr>
          </a:lstStyle>
          <a:p>
            <a:fld id="{DAB949B3-C4AB-4FB2-8B24-B07A558BD59F}" type="slidenum">
              <a:rPr lang="en-IN" smtClean="0"/>
              <a:t>‹#›</a:t>
            </a:fld>
            <a:endParaRPr lang="en-IN"/>
          </a:p>
        </p:txBody>
      </p:sp>
    </p:spTree>
    <p:extLst>
      <p:ext uri="{BB962C8B-B14F-4D97-AF65-F5344CB8AC3E}">
        <p14:creationId xmlns:p14="http://schemas.microsoft.com/office/powerpoint/2010/main" val="26765345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2</a:t>
            </a:fld>
            <a:endParaRPr lang="en-IN"/>
          </a:p>
        </p:txBody>
      </p:sp>
    </p:spTree>
    <p:extLst>
      <p:ext uri="{BB962C8B-B14F-4D97-AF65-F5344CB8AC3E}">
        <p14:creationId xmlns:p14="http://schemas.microsoft.com/office/powerpoint/2010/main" val="36356005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3</a:t>
            </a:fld>
            <a:endParaRPr lang="en-IN"/>
          </a:p>
        </p:txBody>
      </p:sp>
    </p:spTree>
    <p:extLst>
      <p:ext uri="{BB962C8B-B14F-4D97-AF65-F5344CB8AC3E}">
        <p14:creationId xmlns:p14="http://schemas.microsoft.com/office/powerpoint/2010/main" val="35466966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A50CB9-56DE-31B2-1098-9E71ADEDC8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A157ED-9196-070B-03D2-6FE6317058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E38988-A9A4-28F1-3031-903B0DC0FA0C}"/>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20DAD130-048E-2ECD-E747-13E1DC11F144}"/>
              </a:ext>
            </a:extLst>
          </p:cNvPr>
          <p:cNvSpPr>
            <a:spLocks noGrp="1"/>
          </p:cNvSpPr>
          <p:nvPr>
            <p:ph type="sldNum" sz="quarter" idx="5"/>
          </p:nvPr>
        </p:nvSpPr>
        <p:spPr/>
        <p:txBody>
          <a:bodyPr/>
          <a:lstStyle/>
          <a:p>
            <a:fld id="{DAB949B3-C4AB-4FB2-8B24-B07A558BD59F}" type="slidenum">
              <a:rPr lang="en-IN" smtClean="0"/>
              <a:t>4</a:t>
            </a:fld>
            <a:endParaRPr lang="en-IN"/>
          </a:p>
        </p:txBody>
      </p:sp>
    </p:spTree>
    <p:extLst>
      <p:ext uri="{BB962C8B-B14F-4D97-AF65-F5344CB8AC3E}">
        <p14:creationId xmlns:p14="http://schemas.microsoft.com/office/powerpoint/2010/main" val="13935656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E0CC8-A10F-B610-DCB5-900D23E06E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AE5501-2D3D-024F-14E9-B86E2E7E0F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9BACC4-C2FC-9353-4D81-88955AA0CBD2}"/>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DF5C0912-E083-34F9-6B91-A3EA02845256}"/>
              </a:ext>
            </a:extLst>
          </p:cNvPr>
          <p:cNvSpPr>
            <a:spLocks noGrp="1"/>
          </p:cNvSpPr>
          <p:nvPr>
            <p:ph type="sldNum" sz="quarter" idx="5"/>
          </p:nvPr>
        </p:nvSpPr>
        <p:spPr/>
        <p:txBody>
          <a:bodyPr/>
          <a:lstStyle/>
          <a:p>
            <a:fld id="{DAB949B3-C4AB-4FB2-8B24-B07A558BD59F}" type="slidenum">
              <a:rPr lang="en-IN" smtClean="0"/>
              <a:t>5</a:t>
            </a:fld>
            <a:endParaRPr lang="en-IN"/>
          </a:p>
        </p:txBody>
      </p:sp>
    </p:spTree>
    <p:extLst>
      <p:ext uri="{BB962C8B-B14F-4D97-AF65-F5344CB8AC3E}">
        <p14:creationId xmlns:p14="http://schemas.microsoft.com/office/powerpoint/2010/main" val="13725099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6</a:t>
            </a:fld>
            <a:endParaRPr lang="en-IN"/>
          </a:p>
        </p:txBody>
      </p:sp>
    </p:spTree>
    <p:extLst>
      <p:ext uri="{BB962C8B-B14F-4D97-AF65-F5344CB8AC3E}">
        <p14:creationId xmlns:p14="http://schemas.microsoft.com/office/powerpoint/2010/main" val="41504681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7</a:t>
            </a:fld>
            <a:endParaRPr lang="en-IN"/>
          </a:p>
        </p:txBody>
      </p:sp>
    </p:spTree>
    <p:extLst>
      <p:ext uri="{BB962C8B-B14F-4D97-AF65-F5344CB8AC3E}">
        <p14:creationId xmlns:p14="http://schemas.microsoft.com/office/powerpoint/2010/main" val="31608931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8</a:t>
            </a:fld>
            <a:endParaRPr lang="en-IN"/>
          </a:p>
        </p:txBody>
      </p:sp>
    </p:spTree>
    <p:extLst>
      <p:ext uri="{BB962C8B-B14F-4D97-AF65-F5344CB8AC3E}">
        <p14:creationId xmlns:p14="http://schemas.microsoft.com/office/powerpoint/2010/main" val="16237544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74BFBA-8F4A-15EE-00E8-4B2AB484F6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EDE93D-983D-5A38-81FA-D709ADFA0D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700CDA-3340-766B-3C1E-981ABE33673E}"/>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600895A6-5EAB-B3D4-4A93-7E2063A0D0FE}"/>
              </a:ext>
            </a:extLst>
          </p:cNvPr>
          <p:cNvSpPr>
            <a:spLocks noGrp="1"/>
          </p:cNvSpPr>
          <p:nvPr>
            <p:ph type="sldNum" sz="quarter" idx="5"/>
          </p:nvPr>
        </p:nvSpPr>
        <p:spPr/>
        <p:txBody>
          <a:bodyPr/>
          <a:lstStyle/>
          <a:p>
            <a:fld id="{DAB949B3-C4AB-4FB2-8B24-B07A558BD59F}" type="slidenum">
              <a:rPr lang="en-IN" smtClean="0"/>
              <a:t>9</a:t>
            </a:fld>
            <a:endParaRPr lang="en-IN"/>
          </a:p>
        </p:txBody>
      </p:sp>
    </p:spTree>
    <p:extLst>
      <p:ext uri="{BB962C8B-B14F-4D97-AF65-F5344CB8AC3E}">
        <p14:creationId xmlns:p14="http://schemas.microsoft.com/office/powerpoint/2010/main" val="22003388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7F89EA-88C4-5016-A095-506DE815B7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FDE4C0-2A37-086D-444D-F6589EF221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16B53B-2418-A474-39B6-E6A5CDD7E8E8}"/>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7C596E52-16A7-9D9C-4B25-AABF0D67AB46}"/>
              </a:ext>
            </a:extLst>
          </p:cNvPr>
          <p:cNvSpPr>
            <a:spLocks noGrp="1"/>
          </p:cNvSpPr>
          <p:nvPr>
            <p:ph type="sldNum" sz="quarter" idx="5"/>
          </p:nvPr>
        </p:nvSpPr>
        <p:spPr/>
        <p:txBody>
          <a:bodyPr/>
          <a:lstStyle/>
          <a:p>
            <a:fld id="{DAB949B3-C4AB-4FB2-8B24-B07A558BD59F}" type="slidenum">
              <a:rPr lang="en-IN" smtClean="0"/>
              <a:t>10</a:t>
            </a:fld>
            <a:endParaRPr lang="en-IN"/>
          </a:p>
        </p:txBody>
      </p:sp>
    </p:spTree>
    <p:extLst>
      <p:ext uri="{BB962C8B-B14F-4D97-AF65-F5344CB8AC3E}">
        <p14:creationId xmlns:p14="http://schemas.microsoft.com/office/powerpoint/2010/main" val="22874455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11</a:t>
            </a:fld>
            <a:endParaRPr lang="en-IN"/>
          </a:p>
        </p:txBody>
      </p:sp>
    </p:spTree>
    <p:extLst>
      <p:ext uri="{BB962C8B-B14F-4D97-AF65-F5344CB8AC3E}">
        <p14:creationId xmlns:p14="http://schemas.microsoft.com/office/powerpoint/2010/main" val="14696401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602E1E-E4FE-FD5E-16F1-55B5933B6A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B657C6-0645-CF88-0B32-AAFC15CA95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F8E296-24CD-4224-B479-2B34550AA70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253E13B0-9B4F-BE44-A6D5-EF9C56C9B7B6}"/>
              </a:ext>
            </a:extLst>
          </p:cNvPr>
          <p:cNvSpPr>
            <a:spLocks noGrp="1"/>
          </p:cNvSpPr>
          <p:nvPr>
            <p:ph type="sldNum" sz="quarter" idx="5"/>
          </p:nvPr>
        </p:nvSpPr>
        <p:spPr/>
        <p:txBody>
          <a:bodyPr/>
          <a:lstStyle/>
          <a:p>
            <a:fld id="{DAB949B3-C4AB-4FB2-8B24-B07A558BD59F}" type="slidenum">
              <a:rPr lang="en-IN" smtClean="0"/>
              <a:t>12</a:t>
            </a:fld>
            <a:endParaRPr lang="en-IN"/>
          </a:p>
        </p:txBody>
      </p:sp>
    </p:spTree>
    <p:extLst>
      <p:ext uri="{BB962C8B-B14F-4D97-AF65-F5344CB8AC3E}">
        <p14:creationId xmlns:p14="http://schemas.microsoft.com/office/powerpoint/2010/main" val="35708371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D9CB42-67FF-A56C-05D1-F3CA77565C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29108E-4C40-8FA2-5882-5CAF979E37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C1E6B8-D38C-99EF-99AB-B9CFD6B0BBF2}"/>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24960A5D-F436-34AE-AEE7-EA596C7FBA4F}"/>
              </a:ext>
            </a:extLst>
          </p:cNvPr>
          <p:cNvSpPr>
            <a:spLocks noGrp="1"/>
          </p:cNvSpPr>
          <p:nvPr>
            <p:ph type="sldNum" sz="quarter" idx="5"/>
          </p:nvPr>
        </p:nvSpPr>
        <p:spPr/>
        <p:txBody>
          <a:bodyPr/>
          <a:lstStyle/>
          <a:p>
            <a:fld id="{DAB949B3-C4AB-4FB2-8B24-B07A558BD59F}" type="slidenum">
              <a:rPr lang="en-IN" smtClean="0"/>
              <a:t>13</a:t>
            </a:fld>
            <a:endParaRPr lang="en-IN"/>
          </a:p>
        </p:txBody>
      </p:sp>
    </p:spTree>
    <p:extLst>
      <p:ext uri="{BB962C8B-B14F-4D97-AF65-F5344CB8AC3E}">
        <p14:creationId xmlns:p14="http://schemas.microsoft.com/office/powerpoint/2010/main" val="9371805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14</a:t>
            </a:fld>
            <a:endParaRPr lang="en-IN"/>
          </a:p>
        </p:txBody>
      </p:sp>
    </p:spTree>
    <p:extLst>
      <p:ext uri="{BB962C8B-B14F-4D97-AF65-F5344CB8AC3E}">
        <p14:creationId xmlns:p14="http://schemas.microsoft.com/office/powerpoint/2010/main" val="4183691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8DC949-1F96-C0A0-0464-8F44005210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5118AA-1EE2-CA6E-FA11-F0F364AE92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30D87C-22B3-C057-4FBA-8EAE0CC58821}"/>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0C65FBE0-0926-9CE4-579D-16704217C317}"/>
              </a:ext>
            </a:extLst>
          </p:cNvPr>
          <p:cNvSpPr>
            <a:spLocks noGrp="1"/>
          </p:cNvSpPr>
          <p:nvPr>
            <p:ph type="sldNum" sz="quarter" idx="5"/>
          </p:nvPr>
        </p:nvSpPr>
        <p:spPr/>
        <p:txBody>
          <a:bodyPr/>
          <a:lstStyle/>
          <a:p>
            <a:fld id="{DAB949B3-C4AB-4FB2-8B24-B07A558BD59F}" type="slidenum">
              <a:rPr lang="en-IN" smtClean="0"/>
              <a:t>15</a:t>
            </a:fld>
            <a:endParaRPr lang="en-IN"/>
          </a:p>
        </p:txBody>
      </p:sp>
    </p:spTree>
    <p:extLst>
      <p:ext uri="{BB962C8B-B14F-4D97-AF65-F5344CB8AC3E}">
        <p14:creationId xmlns:p14="http://schemas.microsoft.com/office/powerpoint/2010/main" val="5459669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113A28-61F9-D199-D3AD-E6B60A3805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B44B56-E8B1-4D2E-1BF7-D2B4E7E0DF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E38CDB-D221-F5D6-A409-7B343F426DAD}"/>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CE00437E-65C2-9C67-0390-419395407498}"/>
              </a:ext>
            </a:extLst>
          </p:cNvPr>
          <p:cNvSpPr>
            <a:spLocks noGrp="1"/>
          </p:cNvSpPr>
          <p:nvPr>
            <p:ph type="sldNum" sz="quarter" idx="5"/>
          </p:nvPr>
        </p:nvSpPr>
        <p:spPr/>
        <p:txBody>
          <a:bodyPr/>
          <a:lstStyle/>
          <a:p>
            <a:fld id="{DAB949B3-C4AB-4FB2-8B24-B07A558BD59F}" type="slidenum">
              <a:rPr lang="en-IN" smtClean="0"/>
              <a:t>16</a:t>
            </a:fld>
            <a:endParaRPr lang="en-IN"/>
          </a:p>
        </p:txBody>
      </p:sp>
    </p:spTree>
    <p:extLst>
      <p:ext uri="{BB962C8B-B14F-4D97-AF65-F5344CB8AC3E}">
        <p14:creationId xmlns:p14="http://schemas.microsoft.com/office/powerpoint/2010/main" val="22374812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80FAA-8FF1-CA16-503E-7EE1828F0E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ADDF11-2325-93C8-615C-4DD2EC242C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37C88F-6B42-67A0-95F1-7C89B0444CF9}"/>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258F2525-8EA6-D7F2-FEE2-460ED625C131}"/>
              </a:ext>
            </a:extLst>
          </p:cNvPr>
          <p:cNvSpPr>
            <a:spLocks noGrp="1"/>
          </p:cNvSpPr>
          <p:nvPr>
            <p:ph type="sldNum" sz="quarter" idx="5"/>
          </p:nvPr>
        </p:nvSpPr>
        <p:spPr/>
        <p:txBody>
          <a:bodyPr/>
          <a:lstStyle/>
          <a:p>
            <a:fld id="{DAB949B3-C4AB-4FB2-8B24-B07A558BD59F}" type="slidenum">
              <a:rPr lang="en-IN" smtClean="0"/>
              <a:t>17</a:t>
            </a:fld>
            <a:endParaRPr lang="en-IN"/>
          </a:p>
        </p:txBody>
      </p:sp>
    </p:spTree>
    <p:extLst>
      <p:ext uri="{BB962C8B-B14F-4D97-AF65-F5344CB8AC3E}">
        <p14:creationId xmlns:p14="http://schemas.microsoft.com/office/powerpoint/2010/main" val="18668879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F4AA89A1-F17A-4D3D-AC08-D16056C16514}" type="datetimeFigureOut">
              <a:rPr lang="en-IN" smtClean="0"/>
              <a:t>01-05-2025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9716174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4AA89A1-F17A-4D3D-AC08-D16056C16514}" type="datetimeFigureOut">
              <a:rPr lang="en-IN" smtClean="0"/>
              <a:t>01-05-2025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6711951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4AA89A1-F17A-4D3D-AC08-D16056C16514}" type="datetimeFigureOut">
              <a:rPr lang="en-IN" smtClean="0"/>
              <a:t>01-05-2025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40507170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F4AA89A1-F17A-4D3D-AC08-D16056C16514}" type="datetimeFigureOut">
              <a:rPr lang="en-IN" smtClean="0"/>
              <a:t>01-05-2025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40911858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F4AA89A1-F17A-4D3D-AC08-D16056C16514}" type="datetimeFigureOut">
              <a:rPr lang="en-IN" smtClean="0"/>
              <a:t>01-05-2025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24613015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F4AA89A1-F17A-4D3D-AC08-D16056C16514}" type="datetimeFigureOut">
              <a:rPr lang="en-IN" smtClean="0"/>
              <a:t>01-05-2025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7852406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4AA89A1-F17A-4D3D-AC08-D16056C16514}" type="datetimeFigureOut">
              <a:rPr lang="en-IN" smtClean="0"/>
              <a:t>01-05-2025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27517875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4AA89A1-F17A-4D3D-AC08-D16056C16514}" type="datetimeFigureOut">
              <a:rPr lang="en-IN" smtClean="0"/>
              <a:t>01-05-2025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9296799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4AA89A1-F17A-4D3D-AC08-D16056C16514}" type="datetimeFigureOut">
              <a:rPr lang="en-IN" smtClean="0"/>
              <a:t>01-05-2025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36868460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4AA89A1-F17A-4D3D-AC08-D16056C16514}" type="datetimeFigureOut">
              <a:rPr lang="en-IN" smtClean="0"/>
              <a:t>01-05-2025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3627557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4AA89A1-F17A-4D3D-AC08-D16056C16514}" type="datetimeFigureOut">
              <a:rPr lang="en-IN" smtClean="0"/>
              <a:t>01-05-2025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7953898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4AA89A1-F17A-4D3D-AC08-D16056C16514}" type="datetimeFigureOut">
              <a:rPr lang="en-IN" smtClean="0"/>
              <a:t>01-05-2025</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21C46D-3F04-4F73-BF36-E6D9DA5AE143}" type="slidenum">
              <a:rPr lang="en-IN" smtClean="0"/>
              <a:t>‹#›</a:t>
            </a:fld>
            <a:endParaRPr lang="en-IN"/>
          </a:p>
        </p:txBody>
      </p:sp>
    </p:spTree>
    <p:extLst>
      <p:ext uri="{BB962C8B-B14F-4D97-AF65-F5344CB8AC3E}">
        <p14:creationId xmlns:p14="http://schemas.microsoft.com/office/powerpoint/2010/main" val="40687599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2.png"/><Relationship Id="rId7" Type="http://schemas.openxmlformats.org/officeDocument/2006/relationships/diagramQuickStyle" Target="../diagrams/quickStyle1.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4.png"/><Relationship Id="rId9" Type="http://schemas.microsoft.com/office/2007/relationships/diagramDrawing" Target="../diagrams/drawing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PPT Admission Drive 2021-22-final-2_Page_01.jpg"/>
          <p:cNvPicPr>
            <a:picLocks noChangeAspect="1"/>
          </p:cNvPicPr>
          <p:nvPr/>
        </p:nvPicPr>
        <p:blipFill>
          <a:blip r:embed="rId2"/>
          <a:stretch>
            <a:fillRect/>
          </a:stretch>
        </p:blipFill>
        <p:spPr>
          <a:xfrm>
            <a:off x="0" y="0"/>
            <a:ext cx="9144000" cy="6850383"/>
          </a:xfrm>
          <a:prstGeom prst="rect">
            <a:avLst/>
          </a:prstGeom>
        </p:spPr>
      </p:pic>
    </p:spTree>
  </p:cSld>
  <p:clrMapOvr>
    <a:masterClrMapping/>
  </p:clrMapOvr>
  <p:transition>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54260" y="-27384"/>
            <a:ext cx="9180512" cy="6885384"/>
          </a:xfrm>
        </p:spPr>
      </p:pic>
      <p:cxnSp>
        <p:nvCxnSpPr>
          <p:cNvPr id="11" name="Straight Connector 10"/>
          <p:cNvCxnSpPr/>
          <p:nvPr/>
        </p:nvCxnSpPr>
        <p:spPr>
          <a:xfrm>
            <a:off x="1520415" y="2060848"/>
            <a:ext cx="6306546" cy="0"/>
          </a:xfrm>
          <a:prstGeom prst="line">
            <a:avLst/>
          </a:prstGeom>
        </p:spPr>
        <p:style>
          <a:lnRef idx="1">
            <a:schemeClr val="accent1"/>
          </a:lnRef>
          <a:fillRef idx="0">
            <a:schemeClr val="accent1"/>
          </a:fillRef>
          <a:effectRef idx="0">
            <a:schemeClr val="accent1"/>
          </a:effectRef>
          <a:fontRef idx="minor">
            <a:schemeClr val="tx1"/>
          </a:fontRef>
        </p:style>
      </p:cxnSp>
      <p:pic>
        <p:nvPicPr>
          <p:cNvPr id="12" name="Picture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70382" y="150274"/>
            <a:ext cx="6396065" cy="920873"/>
          </a:xfrm>
          <a:prstGeom prst="rect">
            <a:avLst/>
          </a:prstGeom>
        </p:spPr>
      </p:pic>
      <p:sp>
        <p:nvSpPr>
          <p:cNvPr id="13" name="TextBox 12"/>
          <p:cNvSpPr txBox="1"/>
          <p:nvPr/>
        </p:nvSpPr>
        <p:spPr>
          <a:xfrm>
            <a:off x="236440" y="2219553"/>
            <a:ext cx="8784976" cy="830997"/>
          </a:xfrm>
          <a:prstGeom prst="rect">
            <a:avLst/>
          </a:prstGeom>
          <a:noFill/>
        </p:spPr>
        <p:txBody>
          <a:bodyPr wrap="square" rtlCol="0">
            <a:spAutoFit/>
          </a:bodyPr>
          <a:lstStyle/>
          <a:p>
            <a:pPr lvl="0" algn="ctr">
              <a:buSzPct val="25000"/>
            </a:pPr>
            <a:r>
              <a:rPr lang="en-IN" sz="2400" b="1" dirty="0">
                <a:solidFill>
                  <a:srgbClr val="0070C0"/>
                </a:solidFill>
                <a:ea typeface="Cambria" panose="02040503050406030204" pitchFamily="18" charset="0"/>
                <a:cs typeface="Times New Roman" panose="02020603050405020304" pitchFamily="18" charset="0"/>
                <a:sym typeface="Arial"/>
              </a:rPr>
              <a:t>Second Year Project Synopsis</a:t>
            </a:r>
          </a:p>
          <a:p>
            <a:pPr lvl="0" algn="ctr">
              <a:buSzPct val="25000"/>
            </a:pPr>
            <a:r>
              <a:rPr lang="en-IN" sz="2400" b="1" dirty="0">
                <a:solidFill>
                  <a:srgbClr val="0070C0"/>
                </a:solidFill>
                <a:ea typeface="Cambria" panose="02040503050406030204" pitchFamily="18" charset="0"/>
                <a:cs typeface="Times New Roman" panose="02020603050405020304" pitchFamily="18" charset="0"/>
                <a:sym typeface="Arial"/>
              </a:rPr>
              <a:t>Submitted by</a:t>
            </a:r>
          </a:p>
        </p:txBody>
      </p:sp>
      <p:graphicFrame>
        <p:nvGraphicFramePr>
          <p:cNvPr id="2" name="Table 2">
            <a:extLst>
              <a:ext uri="{FF2B5EF4-FFF2-40B4-BE49-F238E27FC236}">
                <a16:creationId xmlns:a16="http://schemas.microsoft.com/office/drawing/2014/main" id="{232DFD41-0025-28B4-FE3B-A54FAEE28F42}"/>
              </a:ext>
            </a:extLst>
          </p:cNvPr>
          <p:cNvGraphicFramePr>
            <a:graphicFrameLocks noGrp="1"/>
          </p:cNvGraphicFramePr>
          <p:nvPr>
            <p:extLst>
              <p:ext uri="{D42A27DB-BD31-4B8C-83A1-F6EECF244321}">
                <p14:modId xmlns:p14="http://schemas.microsoft.com/office/powerpoint/2010/main" val="3497353197"/>
              </p:ext>
            </p:extLst>
          </p:nvPr>
        </p:nvGraphicFramePr>
        <p:xfrm>
          <a:off x="1696134" y="3086002"/>
          <a:ext cx="6096000" cy="148336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3537270469"/>
                    </a:ext>
                  </a:extLst>
                </a:gridCol>
                <a:gridCol w="3048000">
                  <a:extLst>
                    <a:ext uri="{9D8B030D-6E8A-4147-A177-3AD203B41FA5}">
                      <a16:colId xmlns:a16="http://schemas.microsoft.com/office/drawing/2014/main" val="3305024946"/>
                    </a:ext>
                  </a:extLst>
                </a:gridCol>
              </a:tblGrid>
              <a:tr h="370840">
                <a:tc>
                  <a:txBody>
                    <a:bodyPr/>
                    <a:lstStyle/>
                    <a:p>
                      <a:pPr algn="ctr"/>
                      <a:r>
                        <a:rPr lang="en-US" dirty="0"/>
                        <a:t>ROLL</a:t>
                      </a:r>
                    </a:p>
                  </a:txBody>
                  <a:tcPr/>
                </a:tc>
                <a:tc>
                  <a:txBody>
                    <a:bodyPr/>
                    <a:lstStyle/>
                    <a:p>
                      <a:pPr algn="ctr"/>
                      <a:r>
                        <a:rPr lang="en-US" dirty="0"/>
                        <a:t>NAME</a:t>
                      </a:r>
                    </a:p>
                  </a:txBody>
                  <a:tcPr/>
                </a:tc>
                <a:extLst>
                  <a:ext uri="{0D108BD9-81ED-4DB2-BD59-A6C34878D82A}">
                    <a16:rowId xmlns:a16="http://schemas.microsoft.com/office/drawing/2014/main" val="1765898331"/>
                  </a:ext>
                </a:extLst>
              </a:tr>
              <a:tr h="370840">
                <a:tc>
                  <a:txBody>
                    <a:bodyPr/>
                    <a:lstStyle/>
                    <a:p>
                      <a:r>
                        <a:rPr lang="en-US" dirty="0"/>
                        <a:t>2301420037</a:t>
                      </a:r>
                    </a:p>
                  </a:txBody>
                  <a:tcPr/>
                </a:tc>
                <a:tc>
                  <a:txBody>
                    <a:bodyPr/>
                    <a:lstStyle/>
                    <a:p>
                      <a:r>
                        <a:rPr lang="en-US" dirty="0"/>
                        <a:t>Mohd Rizwan</a:t>
                      </a:r>
                    </a:p>
                  </a:txBody>
                  <a:tcPr/>
                </a:tc>
                <a:extLst>
                  <a:ext uri="{0D108BD9-81ED-4DB2-BD59-A6C34878D82A}">
                    <a16:rowId xmlns:a16="http://schemas.microsoft.com/office/drawing/2014/main" val="4176101868"/>
                  </a:ext>
                </a:extLst>
              </a:tr>
              <a:tr h="370840">
                <a:tc>
                  <a:txBody>
                    <a:bodyPr/>
                    <a:lstStyle/>
                    <a:p>
                      <a:r>
                        <a:rPr lang="en-US" dirty="0"/>
                        <a:t>2301420050</a:t>
                      </a:r>
                    </a:p>
                  </a:txBody>
                  <a:tcPr/>
                </a:tc>
                <a:tc>
                  <a:txBody>
                    <a:bodyPr/>
                    <a:lstStyle/>
                    <a:p>
                      <a:r>
                        <a:rPr lang="en-US" dirty="0"/>
                        <a:t>Kashvi Soni</a:t>
                      </a:r>
                    </a:p>
                  </a:txBody>
                  <a:tcPr/>
                </a:tc>
                <a:extLst>
                  <a:ext uri="{0D108BD9-81ED-4DB2-BD59-A6C34878D82A}">
                    <a16:rowId xmlns:a16="http://schemas.microsoft.com/office/drawing/2014/main" val="1958206324"/>
                  </a:ext>
                </a:extLst>
              </a:tr>
              <a:tr h="370840">
                <a:tc>
                  <a:txBody>
                    <a:bodyPr/>
                    <a:lstStyle/>
                    <a:p>
                      <a:r>
                        <a:rPr lang="en-US" dirty="0"/>
                        <a:t>2301420023</a:t>
                      </a:r>
                    </a:p>
                  </a:txBody>
                  <a:tcPr/>
                </a:tc>
                <a:tc>
                  <a:txBody>
                    <a:bodyPr/>
                    <a:lstStyle/>
                    <a:p>
                      <a:r>
                        <a:rPr lang="en-US" dirty="0"/>
                        <a:t>Aryan Jaiswal</a:t>
                      </a:r>
                    </a:p>
                  </a:txBody>
                  <a:tcPr/>
                </a:tc>
                <a:extLst>
                  <a:ext uri="{0D108BD9-81ED-4DB2-BD59-A6C34878D82A}">
                    <a16:rowId xmlns:a16="http://schemas.microsoft.com/office/drawing/2014/main" val="441949598"/>
                  </a:ext>
                </a:extLst>
              </a:tr>
            </a:tbl>
          </a:graphicData>
        </a:graphic>
      </p:graphicFrame>
      <p:sp>
        <p:nvSpPr>
          <p:cNvPr id="5" name="TextBox 4">
            <a:extLst>
              <a:ext uri="{FF2B5EF4-FFF2-40B4-BE49-F238E27FC236}">
                <a16:creationId xmlns:a16="http://schemas.microsoft.com/office/drawing/2014/main" id="{3DF18845-4075-32C5-8F4A-4F40F86E837F}"/>
              </a:ext>
            </a:extLst>
          </p:cNvPr>
          <p:cNvSpPr txBox="1"/>
          <p:nvPr/>
        </p:nvSpPr>
        <p:spPr>
          <a:xfrm>
            <a:off x="2299287" y="1212054"/>
            <a:ext cx="4659282" cy="707886"/>
          </a:xfrm>
          <a:prstGeom prst="rect">
            <a:avLst/>
          </a:prstGeom>
          <a:noFill/>
        </p:spPr>
        <p:txBody>
          <a:bodyPr wrap="square">
            <a:spAutoFit/>
          </a:bodyPr>
          <a:lstStyle/>
          <a:p>
            <a:pPr lvl="0" algn="ctr">
              <a:buSzPct val="25000"/>
            </a:pPr>
            <a:r>
              <a:rPr lang="en-IN" sz="4000" b="1" dirty="0">
                <a:solidFill>
                  <a:srgbClr val="C00000"/>
                </a:solidFill>
                <a:highlight>
                  <a:srgbClr val="FFFF00"/>
                </a:highlight>
                <a:ea typeface="Cambria" panose="02040503050406030204" pitchFamily="18" charset="0"/>
                <a:cs typeface="Times New Roman" panose="02020603050405020304" pitchFamily="18" charset="0"/>
                <a:sym typeface="Arial"/>
              </a:rPr>
              <a:t>G-One</a:t>
            </a:r>
          </a:p>
        </p:txBody>
      </p:sp>
      <p:sp>
        <p:nvSpPr>
          <p:cNvPr id="8" name="TextBox 7">
            <a:extLst>
              <a:ext uri="{FF2B5EF4-FFF2-40B4-BE49-F238E27FC236}">
                <a16:creationId xmlns:a16="http://schemas.microsoft.com/office/drawing/2014/main" id="{40D4C745-33B7-0116-E20F-11A7F0DFD46F}"/>
              </a:ext>
            </a:extLst>
          </p:cNvPr>
          <p:cNvSpPr txBox="1"/>
          <p:nvPr/>
        </p:nvSpPr>
        <p:spPr>
          <a:xfrm>
            <a:off x="236440" y="5733256"/>
            <a:ext cx="8584032" cy="646331"/>
          </a:xfrm>
          <a:prstGeom prst="rect">
            <a:avLst/>
          </a:prstGeom>
          <a:noFill/>
        </p:spPr>
        <p:txBody>
          <a:bodyPr wrap="square">
            <a:spAutoFit/>
          </a:bodyPr>
          <a:lstStyle/>
          <a:p>
            <a:pPr lvl="0">
              <a:buSzPct val="25000"/>
            </a:pPr>
            <a:r>
              <a:rPr lang="en-IN" sz="1800" b="1" dirty="0">
                <a:solidFill>
                  <a:srgbClr val="0070C0"/>
                </a:solidFill>
                <a:ea typeface="Cambria" panose="02040503050406030204" pitchFamily="18" charset="0"/>
                <a:cs typeface="Times New Roman" panose="02020603050405020304" pitchFamily="18" charset="0"/>
                <a:sym typeface="Arial"/>
              </a:rPr>
              <a:t>Industry Mentor: </a:t>
            </a:r>
            <a:r>
              <a:rPr lang="en-IN" sz="1800" b="1" dirty="0">
                <a:ea typeface="Cambria" panose="02040503050406030204" pitchFamily="18" charset="0"/>
                <a:cs typeface="Times New Roman" panose="02020603050405020304" pitchFamily="18" charset="0"/>
                <a:sym typeface="Arial"/>
              </a:rPr>
              <a:t>Farha</a:t>
            </a:r>
          </a:p>
          <a:p>
            <a:pPr lvl="0">
              <a:buSzPct val="25000"/>
            </a:pPr>
            <a:r>
              <a:rPr lang="en-IN" b="1" dirty="0">
                <a:solidFill>
                  <a:srgbClr val="0070C0"/>
                </a:solidFill>
                <a:ea typeface="Cambria" panose="02040503050406030204" pitchFamily="18" charset="0"/>
                <a:cs typeface="Times New Roman" panose="02020603050405020304" pitchFamily="18" charset="0"/>
                <a:sym typeface="Arial"/>
              </a:rPr>
              <a:t>Faculty Mentor:</a:t>
            </a:r>
            <a:r>
              <a:rPr lang="en-IN" sz="1800" b="1" dirty="0">
                <a:solidFill>
                  <a:srgbClr val="0070C0"/>
                </a:solidFill>
                <a:ea typeface="Cambria" panose="02040503050406030204" pitchFamily="18" charset="0"/>
                <a:cs typeface="Times New Roman" panose="02020603050405020304" pitchFamily="18" charset="0"/>
                <a:sym typeface="Arial"/>
              </a:rPr>
              <a:t> </a:t>
            </a:r>
            <a:r>
              <a:rPr lang="en-IN" sz="1800" b="1" dirty="0">
                <a:ea typeface="Cambria" panose="02040503050406030204" pitchFamily="18" charset="0"/>
                <a:cs typeface="Times New Roman" panose="02020603050405020304" pitchFamily="18" charset="0"/>
                <a:sym typeface="Arial"/>
              </a:rPr>
              <a:t>Dr Rupesh</a:t>
            </a:r>
          </a:p>
        </p:txBody>
      </p:sp>
    </p:spTree>
    <p:extLst>
      <p:ext uri="{BB962C8B-B14F-4D97-AF65-F5344CB8AC3E}">
        <p14:creationId xmlns:p14="http://schemas.microsoft.com/office/powerpoint/2010/main" val="41425364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p:cNvSpPr>
            <a:spLocks noChangeArrowheads="1"/>
          </p:cNvSpPr>
          <p:nvPr/>
        </p:nvSpPr>
        <p:spPr bwMode="auto">
          <a:xfrm>
            <a:off x="179512" y="151593"/>
            <a:ext cx="415370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Project Overview</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0979C64F-7AE6-030A-B36E-9CF9ECD8D247}"/>
              </a:ext>
            </a:extLst>
          </p:cNvPr>
          <p:cNvSpPr txBox="1"/>
          <p:nvPr/>
        </p:nvSpPr>
        <p:spPr>
          <a:xfrm>
            <a:off x="323528" y="1196752"/>
            <a:ext cx="8280920" cy="3970318"/>
          </a:xfrm>
          <a:prstGeom prst="rect">
            <a:avLst/>
          </a:prstGeom>
          <a:noFill/>
        </p:spPr>
        <p:txBody>
          <a:bodyPr wrap="square">
            <a:spAutoFit/>
          </a:bodyPr>
          <a:lstStyle/>
          <a:p>
            <a:pPr algn="just"/>
            <a:r>
              <a:rPr lang="en-US" b="1" dirty="0"/>
              <a:t>G-One</a:t>
            </a:r>
            <a:r>
              <a:rPr lang="en-US" dirty="0"/>
              <a:t> is an AI-powered health platform designed to empower individuals to better understand and manage their health. Unlike traditional summarizers, </a:t>
            </a:r>
            <a:r>
              <a:rPr lang="en-US" b="1" dirty="0"/>
              <a:t>G-One</a:t>
            </a:r>
            <a:r>
              <a:rPr lang="en-US" dirty="0"/>
              <a:t> focuses on </a:t>
            </a:r>
            <a:r>
              <a:rPr lang="en-US" b="1" dirty="0"/>
              <a:t>analyzing</a:t>
            </a:r>
            <a:r>
              <a:rPr lang="en-US" dirty="0"/>
              <a:t> medical reports, providing users with tailored health assessments, and offering personalized </a:t>
            </a:r>
            <a:r>
              <a:rPr lang="en-US" b="1" dirty="0"/>
              <a:t>health insights</a:t>
            </a:r>
            <a:r>
              <a:rPr lang="en-US" dirty="0"/>
              <a:t>. The platform allows users to upload their medical reports, which are then processed to assess potential </a:t>
            </a:r>
            <a:r>
              <a:rPr lang="en-US" b="1" dirty="0"/>
              <a:t>health risks.</a:t>
            </a:r>
            <a:endParaRPr lang="en-US" dirty="0"/>
          </a:p>
          <a:p>
            <a:pPr algn="just"/>
            <a:r>
              <a:rPr lang="en-US" dirty="0"/>
              <a:t>Key features include:</a:t>
            </a:r>
          </a:p>
          <a:p>
            <a:pPr algn="just"/>
            <a:endParaRPr lang="en-US" dirty="0"/>
          </a:p>
          <a:p>
            <a:pPr algn="just"/>
            <a:r>
              <a:rPr lang="en-US" b="1" dirty="0"/>
              <a:t>1.</a:t>
            </a:r>
            <a:r>
              <a:rPr lang="en-US" b="1" u="sng" dirty="0">
                <a:solidFill>
                  <a:srgbClr val="0070C0"/>
                </a:solidFill>
              </a:rPr>
              <a:t>Medical Report Analysis</a:t>
            </a:r>
            <a:r>
              <a:rPr lang="en-US" u="sng" dirty="0">
                <a:solidFill>
                  <a:srgbClr val="0070C0"/>
                </a:solidFill>
              </a:rPr>
              <a:t>: </a:t>
            </a:r>
            <a:r>
              <a:rPr lang="en-US" dirty="0"/>
              <a:t>Upload medical reports for in-depth analysis, including disease identification, symptom prediction, and potential health risks.</a:t>
            </a:r>
          </a:p>
          <a:p>
            <a:pPr algn="just"/>
            <a:r>
              <a:rPr lang="en-US" b="1" dirty="0"/>
              <a:t>2.</a:t>
            </a:r>
            <a:r>
              <a:rPr lang="en-US" b="1" u="sng" dirty="0">
                <a:solidFill>
                  <a:srgbClr val="0070C0"/>
                </a:solidFill>
              </a:rPr>
              <a:t>Medicine Scanner</a:t>
            </a:r>
            <a:r>
              <a:rPr lang="en-US" u="sng" dirty="0">
                <a:solidFill>
                  <a:srgbClr val="0070C0"/>
                </a:solidFill>
              </a:rPr>
              <a:t>: </a:t>
            </a:r>
            <a:r>
              <a:rPr lang="en-US" dirty="0"/>
              <a:t>Scan medication labels for detailed information on </a:t>
            </a:r>
            <a:r>
              <a:rPr lang="en-IN" dirty="0">
                <a:effectLst/>
                <a:latin typeface="Times New Roman" panose="02020603050405020304" pitchFamily="18" charset="0"/>
                <a:ea typeface="Calibri" panose="020F0502020204030204" pitchFamily="34" charset="0"/>
              </a:rPr>
              <a:t>provides detailed information about </a:t>
            </a:r>
            <a:r>
              <a:rPr lang="en-IN" b="1" dirty="0">
                <a:effectLst/>
                <a:latin typeface="Times New Roman" panose="02020603050405020304" pitchFamily="18" charset="0"/>
                <a:ea typeface="Calibri" panose="020F0502020204030204" pitchFamily="34" charset="0"/>
              </a:rPr>
              <a:t>medications</a:t>
            </a:r>
            <a:r>
              <a:rPr lang="en-IN" dirty="0">
                <a:effectLst/>
                <a:latin typeface="Times New Roman" panose="02020603050405020304" pitchFamily="18" charset="0"/>
                <a:ea typeface="Calibri" panose="020F0502020204030204" pitchFamily="34" charset="0"/>
              </a:rPr>
              <a:t>, including their </a:t>
            </a:r>
            <a:r>
              <a:rPr lang="en-IN" b="1" dirty="0">
                <a:effectLst/>
                <a:latin typeface="Times New Roman" panose="02020603050405020304" pitchFamily="18" charset="0"/>
                <a:ea typeface="Calibri" panose="020F0502020204030204" pitchFamily="34" charset="0"/>
              </a:rPr>
              <a:t>purpose</a:t>
            </a:r>
            <a:r>
              <a:rPr lang="en-IN" dirty="0">
                <a:effectLst/>
                <a:latin typeface="Times New Roman" panose="02020603050405020304" pitchFamily="18" charset="0"/>
                <a:ea typeface="Calibri" panose="020F0502020204030204" pitchFamily="34" charset="0"/>
              </a:rPr>
              <a:t>, </a:t>
            </a:r>
            <a:r>
              <a:rPr lang="en-IN" b="1" dirty="0">
                <a:effectLst/>
                <a:latin typeface="Times New Roman" panose="02020603050405020304" pitchFamily="18" charset="0"/>
                <a:ea typeface="Calibri" panose="020F0502020204030204" pitchFamily="34" charset="0"/>
              </a:rPr>
              <a:t>side effects</a:t>
            </a:r>
            <a:r>
              <a:rPr lang="en-IN" dirty="0">
                <a:effectLst/>
                <a:latin typeface="Times New Roman" panose="02020603050405020304" pitchFamily="18" charset="0"/>
                <a:ea typeface="Calibri" panose="020F0502020204030204" pitchFamily="34" charset="0"/>
              </a:rPr>
              <a:t>, and possible </a:t>
            </a:r>
            <a:r>
              <a:rPr lang="en-IN" b="1" dirty="0">
                <a:effectLst/>
                <a:latin typeface="Times New Roman" panose="02020603050405020304" pitchFamily="18" charset="0"/>
                <a:ea typeface="Calibri" panose="020F0502020204030204" pitchFamily="34" charset="0"/>
              </a:rPr>
              <a:t>interactions</a:t>
            </a:r>
            <a:r>
              <a:rPr lang="en-IN" dirty="0">
                <a:effectLst/>
                <a:latin typeface="Times New Roman" panose="02020603050405020304" pitchFamily="18" charset="0"/>
                <a:ea typeface="Calibri" panose="020F0502020204030204" pitchFamily="34" charset="0"/>
              </a:rPr>
              <a:t>. </a:t>
            </a:r>
          </a:p>
          <a:p>
            <a:pPr algn="just"/>
            <a:r>
              <a:rPr lang="en-US" b="1" dirty="0"/>
              <a:t>3.</a:t>
            </a:r>
            <a:r>
              <a:rPr lang="en-US" b="1" u="sng" dirty="0">
                <a:solidFill>
                  <a:srgbClr val="0070C0"/>
                </a:solidFill>
              </a:rPr>
              <a:t>Personalized Health Plans</a:t>
            </a:r>
            <a:r>
              <a:rPr lang="en-US" u="sng" dirty="0">
                <a:solidFill>
                  <a:srgbClr val="0070C0"/>
                </a:solidFill>
              </a:rPr>
              <a:t>: </a:t>
            </a:r>
            <a:r>
              <a:rPr lang="en-US" dirty="0"/>
              <a:t>Get </a:t>
            </a:r>
            <a:r>
              <a:rPr lang="en-US" b="1" dirty="0"/>
              <a:t>exercise</a:t>
            </a:r>
            <a:r>
              <a:rPr lang="en-US" dirty="0"/>
              <a:t> and </a:t>
            </a:r>
            <a:r>
              <a:rPr lang="en-US" b="1" dirty="0"/>
              <a:t>dietary recommendations</a:t>
            </a:r>
            <a:r>
              <a:rPr lang="en-US" dirty="0"/>
              <a:t> based on individual health data to enhance overall well-being.</a:t>
            </a:r>
          </a:p>
        </p:txBody>
      </p:sp>
    </p:spTree>
    <p:extLst>
      <p:ext uri="{BB962C8B-B14F-4D97-AF65-F5344CB8AC3E}">
        <p14:creationId xmlns:p14="http://schemas.microsoft.com/office/powerpoint/2010/main" val="33537842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0BCB9D-96AE-CB6E-9C36-46448345056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612461A6-C9CF-A279-E846-5AFA1CEF067A}"/>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B99D4242-71CF-DE3F-0B66-C21402FDCF6D}"/>
              </a:ext>
            </a:extLst>
          </p:cNvPr>
          <p:cNvSpPr>
            <a:spLocks noChangeArrowheads="1"/>
          </p:cNvSpPr>
          <p:nvPr/>
        </p:nvSpPr>
        <p:spPr bwMode="auto">
          <a:xfrm>
            <a:off x="179512" y="59260"/>
            <a:ext cx="4550156"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a:buSzPct val="25000"/>
            </a:pPr>
            <a:r>
              <a:rPr lang="en-US" sz="4400" dirty="0">
                <a:solidFill>
                  <a:prstClr val="black"/>
                </a:solidFill>
                <a:latin typeface="Calibri"/>
                <a:ea typeface="+mj-ea"/>
                <a:cs typeface="+mj-cs"/>
                <a:sym typeface="Arial"/>
              </a:rPr>
              <a:t>A</a:t>
            </a:r>
            <a:r>
              <a:rPr lang="en-IN" sz="4400" dirty="0">
                <a:solidFill>
                  <a:prstClr val="black"/>
                </a:solidFill>
                <a:latin typeface="Calibri"/>
                <a:ea typeface="+mj-ea"/>
                <a:cs typeface="+mj-cs"/>
                <a:sym typeface="Arial"/>
              </a:rPr>
              <a:t>bout the Problem</a:t>
            </a: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74824933-86C5-EFBA-36B9-358001A06AC0}"/>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9E3AE5FC-8649-27D3-900D-5F6329A7F4F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E099852-B907-412D-6E46-D21E628B3AD6}"/>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16" name="TextBox 15">
            <a:extLst>
              <a:ext uri="{FF2B5EF4-FFF2-40B4-BE49-F238E27FC236}">
                <a16:creationId xmlns:a16="http://schemas.microsoft.com/office/drawing/2014/main" id="{5F8BB88C-BDD8-4D93-C402-D7194C0DB72E}"/>
              </a:ext>
            </a:extLst>
          </p:cNvPr>
          <p:cNvSpPr txBox="1"/>
          <p:nvPr/>
        </p:nvSpPr>
        <p:spPr>
          <a:xfrm>
            <a:off x="251520" y="1268760"/>
            <a:ext cx="8640960" cy="5078313"/>
          </a:xfrm>
          <a:prstGeom prst="rect">
            <a:avLst/>
          </a:prstGeom>
          <a:noFill/>
        </p:spPr>
        <p:txBody>
          <a:bodyPr wrap="square">
            <a:spAutoFit/>
          </a:bodyPr>
          <a:lstStyle/>
          <a:p>
            <a:pPr marL="285750" indent="-285750" algn="just">
              <a:buFont typeface="Wingdings" panose="05000000000000000000" pitchFamily="2" charset="2"/>
              <a:buChar char="q"/>
            </a:pPr>
            <a:r>
              <a:rPr lang="en-US" b="1" u="sng" dirty="0">
                <a:solidFill>
                  <a:srgbClr val="0070C0"/>
                </a:solidFill>
                <a:latin typeface="Times New Roman" panose="02020603050405020304" pitchFamily="18" charset="0"/>
                <a:cs typeface="Times New Roman" panose="02020603050405020304" pitchFamily="18" charset="0"/>
              </a:rPr>
              <a:t>Problems Identified:</a:t>
            </a:r>
          </a:p>
          <a:p>
            <a:pPr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Complex Medical Reports</a:t>
            </a:r>
            <a:r>
              <a:rPr lang="en-US" dirty="0">
                <a:latin typeface="Times New Roman" panose="02020603050405020304" pitchFamily="18" charset="0"/>
                <a:cs typeface="Times New Roman" panose="02020603050405020304" pitchFamily="18" charset="0"/>
              </a:rPr>
              <a:t>: Difficulty in understanding complex reports leads to confusion about health status.</a:t>
            </a:r>
          </a:p>
          <a:p>
            <a:pPr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Lack of Personalization</a:t>
            </a:r>
            <a:r>
              <a:rPr lang="en-US" dirty="0">
                <a:latin typeface="Times New Roman" panose="02020603050405020304" pitchFamily="18" charset="0"/>
                <a:cs typeface="Times New Roman" panose="02020603050405020304" pitchFamily="18" charset="0"/>
              </a:rPr>
              <a:t>: Existing health apps offer generic advice, not tailored to individual needs.</a:t>
            </a:r>
          </a:p>
          <a:p>
            <a:pPr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Medication Safety</a:t>
            </a:r>
            <a:r>
              <a:rPr lang="en-US" dirty="0">
                <a:latin typeface="Times New Roman" panose="02020603050405020304" pitchFamily="18" charset="0"/>
                <a:cs typeface="Times New Roman" panose="02020603050405020304" pitchFamily="18" charset="0"/>
              </a:rPr>
              <a:t>: Limited access to detailed information on medication usage, side effects, and interactions.</a:t>
            </a:r>
          </a:p>
          <a:p>
            <a:pPr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Data Interpretation</a:t>
            </a:r>
            <a:r>
              <a:rPr lang="en-US" dirty="0">
                <a:latin typeface="Times New Roman" panose="02020603050405020304" pitchFamily="18" charset="0"/>
                <a:cs typeface="Times New Roman" panose="02020603050405020304" pitchFamily="18" charset="0"/>
              </a:rPr>
              <a:t>: Health data is hard to interpret, causing missed trends and risks.</a:t>
            </a:r>
          </a:p>
          <a:p>
            <a:pPr marL="285750" indent="-285750" algn="just">
              <a:buFont typeface="Wingdings" panose="05000000000000000000" pitchFamily="2" charset="2"/>
              <a:buChar char="q"/>
            </a:pPr>
            <a:r>
              <a:rPr lang="en-US" b="1" u="sng" dirty="0">
                <a:solidFill>
                  <a:srgbClr val="0070C0"/>
                </a:solidFill>
                <a:latin typeface="Times New Roman" panose="02020603050405020304" pitchFamily="18" charset="0"/>
                <a:cs typeface="Times New Roman" panose="02020603050405020304" pitchFamily="18" charset="0"/>
              </a:rPr>
              <a:t>Issues or Problems:</a:t>
            </a:r>
          </a:p>
          <a:p>
            <a:pPr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Medical Terminology</a:t>
            </a:r>
            <a:r>
              <a:rPr lang="en-US" dirty="0">
                <a:latin typeface="Times New Roman" panose="02020603050405020304" pitchFamily="18" charset="0"/>
                <a:cs typeface="Times New Roman" panose="02020603050405020304" pitchFamily="18" charset="0"/>
              </a:rPr>
              <a:t>: Complex language in reports makes it hard for non-medical users to understand.</a:t>
            </a:r>
          </a:p>
          <a:p>
            <a:pPr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Unclear Health Insights</a:t>
            </a:r>
            <a:r>
              <a:rPr lang="en-US" dirty="0">
                <a:latin typeface="Times New Roman" panose="02020603050405020304" pitchFamily="18" charset="0"/>
                <a:cs typeface="Times New Roman" panose="02020603050405020304" pitchFamily="18" charset="0"/>
              </a:rPr>
              <a:t>: Current solutions lack personalized and comprehensive health assessments.</a:t>
            </a:r>
          </a:p>
          <a:p>
            <a:pPr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Limited Real-Time Support</a:t>
            </a:r>
            <a:r>
              <a:rPr lang="en-US" dirty="0">
                <a:latin typeface="Times New Roman" panose="02020603050405020304" pitchFamily="18" charset="0"/>
                <a:cs typeface="Times New Roman" panose="02020603050405020304" pitchFamily="18" charset="0"/>
              </a:rPr>
              <a:t>: Few tools provide instant, actionable insights based on uploaded data.</a:t>
            </a:r>
          </a:p>
          <a:p>
            <a:pPr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Data Fragmentation</a:t>
            </a:r>
            <a:r>
              <a:rPr lang="en-US" dirty="0">
                <a:latin typeface="Times New Roman" panose="02020603050405020304" pitchFamily="18" charset="0"/>
                <a:cs typeface="Times New Roman" panose="02020603050405020304" pitchFamily="18" charset="0"/>
              </a:rPr>
              <a:t>: Health information is scattered across platforms without unified analysis.</a:t>
            </a:r>
          </a:p>
          <a:p>
            <a:endParaRPr lang="en-US" dirty="0"/>
          </a:p>
        </p:txBody>
      </p:sp>
    </p:spTree>
    <p:extLst>
      <p:ext uri="{BB962C8B-B14F-4D97-AF65-F5344CB8AC3E}">
        <p14:creationId xmlns:p14="http://schemas.microsoft.com/office/powerpoint/2010/main" val="36384035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F6F384-1459-7B10-5E9A-FC72969DF15C}"/>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26DF56F0-38F7-B6DB-77A4-AC14D1AC3476}"/>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27384"/>
            <a:ext cx="9180512" cy="6885384"/>
          </a:xfrm>
        </p:spPr>
      </p:pic>
      <p:pic>
        <p:nvPicPr>
          <p:cNvPr id="9" name="Picture 8">
            <a:extLst>
              <a:ext uri="{FF2B5EF4-FFF2-40B4-BE49-F238E27FC236}">
                <a16:creationId xmlns:a16="http://schemas.microsoft.com/office/drawing/2014/main" id="{6FBEDC6D-0DB7-5E0D-C9C1-FEB09ECA41C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301DCF5D-8EFE-0F98-29CB-8BC41163384B}"/>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16" name="TextBox 15">
            <a:extLst>
              <a:ext uri="{FF2B5EF4-FFF2-40B4-BE49-F238E27FC236}">
                <a16:creationId xmlns:a16="http://schemas.microsoft.com/office/drawing/2014/main" id="{34C9E6F8-760B-04A3-3D36-6866CBCFA6C2}"/>
              </a:ext>
            </a:extLst>
          </p:cNvPr>
          <p:cNvSpPr txBox="1"/>
          <p:nvPr/>
        </p:nvSpPr>
        <p:spPr>
          <a:xfrm>
            <a:off x="251520" y="1268760"/>
            <a:ext cx="8640960" cy="369332"/>
          </a:xfrm>
          <a:prstGeom prst="rect">
            <a:avLst/>
          </a:prstGeom>
          <a:noFill/>
        </p:spPr>
        <p:txBody>
          <a:bodyPr wrap="square">
            <a:spAutoFit/>
          </a:bodyPr>
          <a:lstStyle/>
          <a:p>
            <a:endParaRPr lang="en-US" dirty="0"/>
          </a:p>
        </p:txBody>
      </p:sp>
      <p:sp>
        <p:nvSpPr>
          <p:cNvPr id="3" name="TextBox 2">
            <a:extLst>
              <a:ext uri="{FF2B5EF4-FFF2-40B4-BE49-F238E27FC236}">
                <a16:creationId xmlns:a16="http://schemas.microsoft.com/office/drawing/2014/main" id="{4498AEC3-F333-B6CD-C039-50F69ECE8BE4}"/>
              </a:ext>
            </a:extLst>
          </p:cNvPr>
          <p:cNvSpPr txBox="1"/>
          <p:nvPr/>
        </p:nvSpPr>
        <p:spPr>
          <a:xfrm>
            <a:off x="150991" y="404664"/>
            <a:ext cx="8712969" cy="5078313"/>
          </a:xfrm>
          <a:prstGeom prst="rect">
            <a:avLst/>
          </a:prstGeom>
          <a:noFill/>
        </p:spPr>
        <p:txBody>
          <a:bodyPr wrap="square">
            <a:spAutoFit/>
          </a:bodyPr>
          <a:lstStyle/>
          <a:p>
            <a:pPr marL="285750" indent="-285750" algn="just">
              <a:buFont typeface="Wingdings" panose="05000000000000000000" pitchFamily="2" charset="2"/>
              <a:buChar char="q"/>
            </a:pPr>
            <a:r>
              <a:rPr lang="en-US" b="1" u="sng" dirty="0">
                <a:solidFill>
                  <a:srgbClr val="0070C0"/>
                </a:solidFill>
                <a:latin typeface="Times New Roman" panose="02020603050405020304" pitchFamily="18" charset="0"/>
                <a:cs typeface="Times New Roman" panose="02020603050405020304" pitchFamily="18" charset="0"/>
              </a:rPr>
              <a:t>Need of Solution:</a:t>
            </a:r>
          </a:p>
          <a:p>
            <a:pPr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Simplified Reports</a:t>
            </a:r>
            <a:r>
              <a:rPr lang="en-US" dirty="0">
                <a:latin typeface="Times New Roman" panose="02020603050405020304" pitchFamily="18" charset="0"/>
                <a:cs typeface="Times New Roman" panose="02020603050405020304" pitchFamily="18" charset="0"/>
              </a:rPr>
              <a:t>: A tool to analyze and present medical reports in an understandable way.</a:t>
            </a:r>
          </a:p>
          <a:p>
            <a:pPr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Personalized Recommendations</a:t>
            </a:r>
            <a:r>
              <a:rPr lang="en-US" dirty="0">
                <a:latin typeface="Times New Roman" panose="02020603050405020304" pitchFamily="18" charset="0"/>
                <a:cs typeface="Times New Roman" panose="02020603050405020304" pitchFamily="18" charset="0"/>
              </a:rPr>
              <a:t>: Customized advice on symptoms, medications, and lifestyle changes.</a:t>
            </a:r>
          </a:p>
          <a:p>
            <a:pPr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Medication Safety</a:t>
            </a:r>
            <a:r>
              <a:rPr lang="en-US" dirty="0">
                <a:latin typeface="Times New Roman" panose="02020603050405020304" pitchFamily="18" charset="0"/>
                <a:cs typeface="Times New Roman" panose="02020603050405020304" pitchFamily="18" charset="0"/>
              </a:rPr>
              <a:t>: A platform providing full medication details, including interactions and side effects.</a:t>
            </a:r>
          </a:p>
          <a:p>
            <a:pPr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Unified Health Data</a:t>
            </a:r>
            <a:r>
              <a:rPr lang="en-US" dirty="0">
                <a:latin typeface="Times New Roman" panose="02020603050405020304" pitchFamily="18" charset="0"/>
                <a:cs typeface="Times New Roman" panose="02020603050405020304" pitchFamily="18" charset="0"/>
              </a:rPr>
              <a:t>: A single system that aggregates and analyzes health data to offer actionable insights.</a:t>
            </a:r>
          </a:p>
          <a:p>
            <a:pPr marL="285750" indent="-285750" algn="just">
              <a:buFont typeface="Wingdings" panose="05000000000000000000" pitchFamily="2" charset="2"/>
              <a:buChar char="q"/>
            </a:pPr>
            <a:r>
              <a:rPr lang="en-US" b="1" u="sng" dirty="0">
                <a:solidFill>
                  <a:srgbClr val="0070C0"/>
                </a:solidFill>
                <a:latin typeface="Times New Roman" panose="02020603050405020304" pitchFamily="18" charset="0"/>
                <a:cs typeface="Times New Roman" panose="02020603050405020304" pitchFamily="18" charset="0"/>
              </a:rPr>
              <a:t>Existing Solution:</a:t>
            </a:r>
          </a:p>
          <a:p>
            <a:pPr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Generic Health Apps</a:t>
            </a:r>
            <a:r>
              <a:rPr lang="en-US" dirty="0">
                <a:latin typeface="Times New Roman" panose="02020603050405020304" pitchFamily="18" charset="0"/>
                <a:cs typeface="Times New Roman" panose="02020603050405020304" pitchFamily="18" charset="0"/>
              </a:rPr>
              <a:t>: Offer basic health information but lack in-depth analysis or personalization.</a:t>
            </a:r>
          </a:p>
          <a:p>
            <a:pPr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Report Summarizers</a:t>
            </a:r>
            <a:r>
              <a:rPr lang="en-US" dirty="0">
                <a:latin typeface="Times New Roman" panose="02020603050405020304" pitchFamily="18" charset="0"/>
                <a:cs typeface="Times New Roman" panose="02020603050405020304" pitchFamily="18" charset="0"/>
              </a:rPr>
              <a:t>: Existing tools don’t provide detailed analysis or tailored health insights.</a:t>
            </a:r>
          </a:p>
          <a:p>
            <a:pPr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Medication Lookup</a:t>
            </a:r>
            <a:r>
              <a:rPr lang="en-US" dirty="0">
                <a:latin typeface="Times New Roman" panose="02020603050405020304" pitchFamily="18" charset="0"/>
                <a:cs typeface="Times New Roman" panose="02020603050405020304" pitchFamily="18" charset="0"/>
              </a:rPr>
              <a:t>: Current tools lack comprehensive details like interactions and side effects.</a:t>
            </a:r>
          </a:p>
          <a:p>
            <a:pPr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Health Data Platforms</a:t>
            </a:r>
            <a:r>
              <a:rPr lang="en-US" dirty="0">
                <a:latin typeface="Times New Roman" panose="02020603050405020304" pitchFamily="18" charset="0"/>
                <a:cs typeface="Times New Roman" panose="02020603050405020304" pitchFamily="18" charset="0"/>
              </a:rPr>
              <a:t>: Platforms aggregate data but lack actionable insights or analysis.</a:t>
            </a:r>
          </a:p>
          <a:p>
            <a:endParaRPr lang="en-US" dirty="0"/>
          </a:p>
        </p:txBody>
      </p:sp>
    </p:spTree>
    <p:extLst>
      <p:ext uri="{BB962C8B-B14F-4D97-AF65-F5344CB8AC3E}">
        <p14:creationId xmlns:p14="http://schemas.microsoft.com/office/powerpoint/2010/main" val="942518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p:cNvSpPr>
            <a:spLocks noChangeArrowheads="1"/>
          </p:cNvSpPr>
          <p:nvPr/>
        </p:nvSpPr>
        <p:spPr bwMode="auto">
          <a:xfrm>
            <a:off x="179512" y="151593"/>
            <a:ext cx="464742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Problem Statement</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98072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70991" y="1081472"/>
            <a:ext cx="9001001" cy="5574539"/>
          </a:xfrm>
          <a:prstGeom prst="rect">
            <a:avLst/>
          </a:prstGeom>
          <a:noFill/>
        </p:spPr>
        <p:txBody>
          <a:bodyPr wrap="square">
            <a:spAutoFit/>
          </a:bodyPr>
          <a:lstStyle/>
          <a:p>
            <a:pPr marL="0" marR="0" algn="just" fontAlgn="base">
              <a:lnSpc>
                <a:spcPct val="107000"/>
              </a:lnSpc>
              <a:spcBef>
                <a:spcPts val="0"/>
              </a:spcBef>
              <a:spcAft>
                <a:spcPts val="0"/>
              </a:spcAft>
            </a:pPr>
            <a:r>
              <a:rPr lang="en-US" b="1" dirty="0">
                <a:latin typeface="Times New Roman" panose="02020603050405020304" pitchFamily="18" charset="0"/>
                <a:cs typeface="Times New Roman" panose="02020603050405020304" pitchFamily="18" charset="0"/>
              </a:rPr>
              <a:t>G-One</a:t>
            </a:r>
            <a:r>
              <a:rPr lang="en-US" dirty="0">
                <a:latin typeface="Times New Roman" panose="02020603050405020304" pitchFamily="18" charset="0"/>
                <a:cs typeface="Times New Roman" panose="02020603050405020304" pitchFamily="18" charset="0"/>
              </a:rPr>
              <a:t> addresses the difficulty individuals face in understanding complex medical reports, which often leads to confusion and improper health decisions. In addition, existing healthcare solutions lack personalized, actionable insights and fail to provide adequate medication safety information. Users also struggle with fragmented health data and lack a unified platform for comprehensive analysis.</a:t>
            </a:r>
          </a:p>
          <a:p>
            <a:pPr marL="0" marR="0" algn="just" fontAlgn="base">
              <a:lnSpc>
                <a:spcPct val="107000"/>
              </a:lnSpc>
              <a:spcBef>
                <a:spcPts val="0"/>
              </a:spcBef>
              <a:spcAft>
                <a:spcPts val="0"/>
              </a:spcAft>
            </a:pPr>
            <a:r>
              <a:rPr lang="en-US" b="1" dirty="0"/>
              <a:t>Understanding medical reports</a:t>
            </a:r>
            <a:r>
              <a:rPr lang="en-US" dirty="0"/>
              <a:t> is essential for individuals to make informed health decisions. Without </a:t>
            </a:r>
            <a:r>
              <a:rPr lang="en-US" b="1" dirty="0"/>
              <a:t>personalized insights</a:t>
            </a:r>
            <a:r>
              <a:rPr lang="en-US" dirty="0"/>
              <a:t>, users may not fully understand their health risks or take appropriate actions. </a:t>
            </a:r>
            <a:r>
              <a:rPr lang="en-US" b="1" dirty="0"/>
              <a:t>Medication safety</a:t>
            </a:r>
            <a:r>
              <a:rPr lang="en-US" dirty="0"/>
              <a:t> is paramount, as a lack of detailed information can result in misuse, adverse reactions, or harmful drug interactions. Without effective </a:t>
            </a:r>
            <a:r>
              <a:rPr lang="en-US" b="1" dirty="0"/>
              <a:t>data interpretation</a:t>
            </a:r>
            <a:r>
              <a:rPr lang="en-US" dirty="0"/>
              <a:t> tools, individuals may miss early signs of health issues, leading to delayed interventions and worsening conditions.</a:t>
            </a:r>
          </a:p>
          <a:p>
            <a:pPr algn="just"/>
            <a:r>
              <a:rPr lang="en-US" dirty="0"/>
              <a:t>Solving this problem will greatly impact users' health management. </a:t>
            </a:r>
            <a:r>
              <a:rPr lang="en-US" b="1" dirty="0"/>
              <a:t>G-One</a:t>
            </a:r>
            <a:r>
              <a:rPr lang="en-US" dirty="0"/>
              <a:t> will enhance </a:t>
            </a:r>
            <a:r>
              <a:rPr lang="en-US" b="1" dirty="0"/>
              <a:t>health literacy</a:t>
            </a:r>
            <a:r>
              <a:rPr lang="en-US" dirty="0"/>
              <a:t>, helping users understand reports and health status for informed decisions. It will provide </a:t>
            </a:r>
            <a:r>
              <a:rPr lang="en-US" b="1" dirty="0"/>
              <a:t>tailored health insights</a:t>
            </a:r>
            <a:r>
              <a:rPr lang="en-US" dirty="0"/>
              <a:t> with personalized exercise, diet, and treatment recommendations. Additionally, </a:t>
            </a:r>
            <a:r>
              <a:rPr lang="en-US" b="1" dirty="0"/>
              <a:t>G-One</a:t>
            </a:r>
            <a:r>
              <a:rPr lang="en-US" dirty="0"/>
              <a:t> will improve </a:t>
            </a:r>
            <a:r>
              <a:rPr lang="en-US" b="1" dirty="0"/>
              <a:t>medication management</a:t>
            </a:r>
            <a:r>
              <a:rPr lang="en-US" dirty="0"/>
              <a:t>, offering detailed information on drug usage, side effects, and interactions. Lastly, by delivering </a:t>
            </a:r>
            <a:r>
              <a:rPr lang="en-US" b="1" dirty="0"/>
              <a:t>proactive health management</a:t>
            </a:r>
            <a:r>
              <a:rPr lang="en-US" dirty="0"/>
              <a:t>, the platform will offer real-time insights into symptoms and health data, helping users detect risks early and take timely actions for better outcomes.</a:t>
            </a:r>
          </a:p>
          <a:p>
            <a:pPr marL="0" marR="0" algn="just" fontAlgn="base">
              <a:lnSpc>
                <a:spcPct val="107000"/>
              </a:lnSpc>
              <a:spcBef>
                <a:spcPts val="0"/>
              </a:spcBef>
              <a:spcAft>
                <a:spcPts val="0"/>
              </a:spcAft>
            </a:pPr>
            <a:endParaRPr lang="en-US" dirty="0"/>
          </a:p>
        </p:txBody>
      </p:sp>
    </p:spTree>
    <p:extLst>
      <p:ext uri="{BB962C8B-B14F-4D97-AF65-F5344CB8AC3E}">
        <p14:creationId xmlns:p14="http://schemas.microsoft.com/office/powerpoint/2010/main" val="10473292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p:cNvSpPr>
            <a:spLocks noChangeArrowheads="1"/>
          </p:cNvSpPr>
          <p:nvPr/>
        </p:nvSpPr>
        <p:spPr bwMode="auto">
          <a:xfrm>
            <a:off x="179512" y="151593"/>
            <a:ext cx="439248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Objectives</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7B14FE12-9F36-1DAE-B174-062D669256D2}"/>
              </a:ext>
            </a:extLst>
          </p:cNvPr>
          <p:cNvSpPr txBox="1"/>
          <p:nvPr/>
        </p:nvSpPr>
        <p:spPr>
          <a:xfrm>
            <a:off x="251520" y="1196764"/>
            <a:ext cx="8712968" cy="5380832"/>
          </a:xfrm>
          <a:prstGeom prst="rect">
            <a:avLst/>
          </a:prstGeom>
          <a:noFill/>
        </p:spPr>
        <p:txBody>
          <a:bodyPr wrap="square">
            <a:spAutoFit/>
          </a:bodyPr>
          <a:lstStyle/>
          <a:p>
            <a:pPr algn="just"/>
            <a:r>
              <a:rPr lang="en-US" b="1" dirty="0"/>
              <a:t>Main Goal of the Project</a:t>
            </a:r>
          </a:p>
          <a:p>
            <a:pPr algn="just"/>
            <a:r>
              <a:rPr lang="en-US" dirty="0"/>
              <a:t>The main goal of </a:t>
            </a:r>
            <a:r>
              <a:rPr lang="en-US" b="1" dirty="0"/>
              <a:t>G-One</a:t>
            </a:r>
            <a:r>
              <a:rPr lang="en-US" dirty="0"/>
              <a:t> is to develop a comprehensive health analyzer that simplifies complex medical data, enabling users to easily understand their health status. It aims to provide personalized insights and proactive health management recommendations to improve overall well-being.</a:t>
            </a:r>
          </a:p>
          <a:p>
            <a:pPr algn="just"/>
            <a:r>
              <a:rPr lang="en-US" b="1" dirty="0"/>
              <a:t>Specific Objectives</a:t>
            </a:r>
          </a:p>
          <a:p>
            <a:pPr algn="just">
              <a:buFont typeface="+mj-lt"/>
              <a:buAutoNum type="arabicPeriod"/>
            </a:pPr>
            <a:r>
              <a:rPr lang="en-US" b="1" dirty="0"/>
              <a:t>Simplify medical reports</a:t>
            </a:r>
            <a:r>
              <a:rPr lang="en-US" dirty="0"/>
              <a:t>: Make complex medical reports more understandable for users, ensuring they can easily interpret their health information without medical expertise.</a:t>
            </a:r>
          </a:p>
          <a:p>
            <a:pPr algn="just">
              <a:buFont typeface="+mj-lt"/>
              <a:buAutoNum type="arabicPeriod"/>
            </a:pPr>
            <a:r>
              <a:rPr lang="en-US" b="1" dirty="0"/>
              <a:t>Provide personalized health insights</a:t>
            </a:r>
            <a:r>
              <a:rPr lang="en-US" dirty="0"/>
              <a:t>: Offer tailored recommendations based on the user’s health data to improve their lifestyle choices, such as diet, exercise, and overall well-being.</a:t>
            </a:r>
          </a:p>
          <a:p>
            <a:pPr algn="just">
              <a:buFont typeface="+mj-lt"/>
              <a:buAutoNum type="arabicPeriod"/>
            </a:pPr>
            <a:r>
              <a:rPr lang="en-US" b="1" dirty="0"/>
              <a:t>Ensure safe medication management</a:t>
            </a:r>
            <a:r>
              <a:rPr lang="en-US" dirty="0"/>
              <a:t>: Provide detailed information about medications, including proper usage, potential side effects, and drug interactions, helping users make informed decisions about their medication.</a:t>
            </a:r>
          </a:p>
          <a:p>
            <a:pPr algn="just">
              <a:buFont typeface="+mj-lt"/>
              <a:buAutoNum type="arabicPeriod"/>
            </a:pPr>
            <a:r>
              <a:rPr lang="en-US" b="1" dirty="0"/>
              <a:t>Enable early health risk detection</a:t>
            </a:r>
            <a:r>
              <a:rPr lang="en-US" dirty="0"/>
              <a:t>: Use symptom analysis and proactive monitoring to detect potential health issues early, allowing users to take preventive actions and seek timely medical help.</a:t>
            </a:r>
          </a:p>
          <a:p>
            <a:pPr marL="457200" indent="-457200">
              <a:lnSpc>
                <a:spcPct val="150000"/>
              </a:lnSpc>
              <a:buFont typeface="Arial" panose="020B0604020202020204" pitchFamily="34" charset="0"/>
              <a:buChar char="•"/>
            </a:pPr>
            <a:endParaRPr lang="en-IN" sz="2800" dirty="0"/>
          </a:p>
        </p:txBody>
      </p:sp>
    </p:spTree>
    <p:extLst>
      <p:ext uri="{BB962C8B-B14F-4D97-AF65-F5344CB8AC3E}">
        <p14:creationId xmlns:p14="http://schemas.microsoft.com/office/powerpoint/2010/main" val="9574231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756592" y="-208661"/>
            <a:ext cx="9900592" cy="7425444"/>
          </a:xfrm>
        </p:spPr>
      </p:pic>
      <p:sp>
        <p:nvSpPr>
          <p:cNvPr id="5" name="Rectangle 1"/>
          <p:cNvSpPr>
            <a:spLocks noChangeArrowheads="1"/>
          </p:cNvSpPr>
          <p:nvPr/>
        </p:nvSpPr>
        <p:spPr bwMode="auto">
          <a:xfrm>
            <a:off x="467544" y="84988"/>
            <a:ext cx="820891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kern="100" dirty="0">
                <a:effectLst/>
                <a:latin typeface="Verdana" panose="020B0604030504040204" pitchFamily="34" charset="0"/>
                <a:ea typeface="Times New Roman" panose="02020603050405020304" pitchFamily="18" charset="0"/>
                <a:cs typeface="Times New Roman" panose="02020603050405020304" pitchFamily="18" charset="0"/>
              </a:rPr>
              <a:t>Methodology, Tools, and Techniques</a:t>
            </a:r>
            <a:endParaRPr lang="en-IN" sz="2800" b="1" dirty="0">
              <a:solidFill>
                <a:srgbClr val="E31E24"/>
              </a:solidFill>
              <a:cs typeface="Times New Roman" panose="02020603050405020304" pitchFamily="18" charset="0"/>
              <a:sym typeface="Arial"/>
            </a:endParaRPr>
          </a:p>
        </p:txBody>
      </p:sp>
      <p:cxnSp>
        <p:nvCxnSpPr>
          <p:cNvPr id="7" name="Straight Connector 6"/>
          <p:cNvCxnSpPr/>
          <p:nvPr/>
        </p:nvCxnSpPr>
        <p:spPr>
          <a:xfrm>
            <a:off x="-396552" y="76470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87D99C65-577D-4FCE-E9F2-03F60B4E0C20}"/>
              </a:ext>
            </a:extLst>
          </p:cNvPr>
          <p:cNvSpPr txBox="1"/>
          <p:nvPr/>
        </p:nvSpPr>
        <p:spPr>
          <a:xfrm>
            <a:off x="360039" y="739618"/>
            <a:ext cx="8423921" cy="5355312"/>
          </a:xfrm>
          <a:prstGeom prst="rect">
            <a:avLst/>
          </a:prstGeom>
          <a:noFill/>
        </p:spPr>
        <p:txBody>
          <a:bodyPr wrap="square" rtlCol="0">
            <a:spAutoFit/>
          </a:bodyPr>
          <a:lstStyle/>
          <a:p>
            <a:pPr marL="285750" indent="-285750" algn="just">
              <a:buFont typeface="Wingdings" panose="05000000000000000000" pitchFamily="2" charset="2"/>
              <a:buChar char="v"/>
            </a:pPr>
            <a:r>
              <a:rPr lang="en-US" b="1" u="sng" dirty="0">
                <a:latin typeface="Times New Roman" panose="02020603050405020304" pitchFamily="18" charset="0"/>
                <a:cs typeface="Times New Roman" panose="02020603050405020304" pitchFamily="18" charset="0"/>
              </a:rPr>
              <a:t>Approach taken to solve the problem:</a:t>
            </a:r>
          </a:p>
          <a:p>
            <a:pPr algn="just"/>
            <a:endParaRPr lang="en-US" b="1" u="sng"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b="1" u="sng" dirty="0">
                <a:solidFill>
                  <a:srgbClr val="0070C0"/>
                </a:solidFill>
                <a:latin typeface="Times New Roman" panose="02020603050405020304" pitchFamily="18" charset="0"/>
                <a:cs typeface="Times New Roman" panose="02020603050405020304" pitchFamily="18" charset="0"/>
              </a:rPr>
              <a:t>Data Collection and Preprocessing:</a:t>
            </a:r>
            <a:endParaRPr lang="en-US" u="sng" dirty="0">
              <a:solidFill>
                <a:srgbClr val="0070C0"/>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ü"/>
            </a:pPr>
            <a:r>
              <a:rPr lang="en-US" b="1" dirty="0">
                <a:latin typeface="Times New Roman" panose="02020603050405020304" pitchFamily="18" charset="0"/>
                <a:cs typeface="Times New Roman" panose="02020603050405020304" pitchFamily="18" charset="0"/>
              </a:rPr>
              <a:t>Collection:</a:t>
            </a:r>
            <a:r>
              <a:rPr lang="en-US" dirty="0">
                <a:latin typeface="Times New Roman" panose="02020603050405020304" pitchFamily="18" charset="0"/>
                <a:cs typeface="Times New Roman" panose="02020603050405020304" pitchFamily="18" charset="0"/>
              </a:rPr>
              <a:t> Gather diverse medical reports like lab results, prescriptions, and diagnostic summaries.</a:t>
            </a:r>
          </a:p>
          <a:p>
            <a:pPr marL="285750" indent="-285750" algn="just">
              <a:buFont typeface="Wingdings" panose="05000000000000000000" pitchFamily="2" charset="2"/>
              <a:buChar char="ü"/>
            </a:pPr>
            <a:r>
              <a:rPr lang="en-US" b="1" dirty="0">
                <a:latin typeface="Times New Roman" panose="02020603050405020304" pitchFamily="18" charset="0"/>
                <a:cs typeface="Times New Roman" panose="02020603050405020304" pitchFamily="18" charset="0"/>
              </a:rPr>
              <a:t>Cleaning:</a:t>
            </a:r>
            <a:r>
              <a:rPr lang="en-US" dirty="0">
                <a:latin typeface="Times New Roman" panose="02020603050405020304" pitchFamily="18" charset="0"/>
                <a:cs typeface="Times New Roman" panose="02020603050405020304" pitchFamily="18" charset="0"/>
              </a:rPr>
              <a:t> Remove irrelevant data, correct inconsistencies, and handle missing values for accuracy.</a:t>
            </a:r>
          </a:p>
          <a:p>
            <a:pPr marL="285750" indent="-285750" algn="just">
              <a:buFont typeface="Wingdings" panose="05000000000000000000" pitchFamily="2" charset="2"/>
              <a:buChar char="ü"/>
            </a:pPr>
            <a:r>
              <a:rPr lang="en-US" b="1" dirty="0">
                <a:latin typeface="Times New Roman" panose="02020603050405020304" pitchFamily="18" charset="0"/>
                <a:cs typeface="Times New Roman" panose="02020603050405020304" pitchFamily="18" charset="0"/>
              </a:rPr>
              <a:t>Preprocessing:</a:t>
            </a:r>
            <a:r>
              <a:rPr lang="en-US" dirty="0">
                <a:latin typeface="Times New Roman" panose="02020603050405020304" pitchFamily="18" charset="0"/>
                <a:cs typeface="Times New Roman" panose="02020603050405020304" pitchFamily="18" charset="0"/>
              </a:rPr>
              <a:t> Apply tokenization, stop-word removal, lemmatization, and normalization using Hugging Face models.</a:t>
            </a:r>
          </a:p>
          <a:p>
            <a:pPr algn="just"/>
            <a:endParaRPr 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IN" b="1" u="sng" dirty="0">
                <a:solidFill>
                  <a:srgbClr val="0070C0"/>
                </a:solidFill>
                <a:latin typeface="Times New Roman" panose="02020603050405020304" pitchFamily="18" charset="0"/>
                <a:cs typeface="Times New Roman" panose="02020603050405020304" pitchFamily="18" charset="0"/>
              </a:rPr>
              <a:t>Medical Report Analysis:</a:t>
            </a:r>
            <a:endParaRPr lang="en-IN" u="sng" dirty="0">
              <a:solidFill>
                <a:srgbClr val="0070C0"/>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ü"/>
            </a:pPr>
            <a:r>
              <a:rPr lang="en-IN" b="1" dirty="0">
                <a:latin typeface="Times New Roman" panose="02020603050405020304" pitchFamily="18" charset="0"/>
                <a:cs typeface="Times New Roman" panose="02020603050405020304" pitchFamily="18" charset="0"/>
              </a:rPr>
              <a:t>NLP Techniques:</a:t>
            </a:r>
            <a:r>
              <a:rPr lang="en-IN" dirty="0">
                <a:latin typeface="Times New Roman" panose="02020603050405020304" pitchFamily="18" charset="0"/>
                <a:cs typeface="Times New Roman" panose="02020603050405020304" pitchFamily="18" charset="0"/>
              </a:rPr>
              <a:t> Use Hugging Face’s models to extract key medical data (diagnoses, symptoms, treatments).</a:t>
            </a:r>
          </a:p>
          <a:p>
            <a:pPr marL="285750" indent="-285750" algn="just">
              <a:buFont typeface="Wingdings" panose="05000000000000000000" pitchFamily="2" charset="2"/>
              <a:buChar char="ü"/>
            </a:pPr>
            <a:r>
              <a:rPr lang="en-IN" b="1" dirty="0">
                <a:latin typeface="Times New Roman" panose="02020603050405020304" pitchFamily="18" charset="0"/>
                <a:cs typeface="Times New Roman" panose="02020603050405020304" pitchFamily="18" charset="0"/>
              </a:rPr>
              <a:t>Named Entity Recognition (NER):</a:t>
            </a:r>
            <a:r>
              <a:rPr lang="en-IN" dirty="0">
                <a:latin typeface="Times New Roman" panose="02020603050405020304" pitchFamily="18" charset="0"/>
                <a:cs typeface="Times New Roman" panose="02020603050405020304" pitchFamily="18" charset="0"/>
              </a:rPr>
              <a:t> Identify diseases, medications, and symptoms using advanced NLP models.</a:t>
            </a:r>
          </a:p>
          <a:p>
            <a:pPr marL="285750" indent="-285750" algn="just">
              <a:buFont typeface="Wingdings" panose="05000000000000000000" pitchFamily="2" charset="2"/>
              <a:buChar char="ü"/>
            </a:pPr>
            <a:r>
              <a:rPr lang="en-IN" b="1" dirty="0">
                <a:latin typeface="Times New Roman" panose="02020603050405020304" pitchFamily="18" charset="0"/>
                <a:cs typeface="Times New Roman" panose="02020603050405020304" pitchFamily="18" charset="0"/>
              </a:rPr>
              <a:t>Health Risk Analysis:</a:t>
            </a:r>
            <a:r>
              <a:rPr lang="en-IN" dirty="0">
                <a:latin typeface="Times New Roman" panose="02020603050405020304" pitchFamily="18" charset="0"/>
                <a:cs typeface="Times New Roman" panose="02020603050405020304" pitchFamily="18" charset="0"/>
              </a:rPr>
              <a:t> Assess health risks and predict symptoms through pattern-matching algorithms.</a:t>
            </a:r>
          </a:p>
          <a:p>
            <a:pPr algn="just"/>
            <a:endParaRPr lang="en-IN"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2958122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AF7D5A-E48F-31AB-4854-BDC0ACEF76B6}"/>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3B3A377D-7117-6F40-2192-318CB5526790}"/>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756592" y="-208661"/>
            <a:ext cx="9180512" cy="6885384"/>
          </a:xfrm>
        </p:spPr>
      </p:pic>
      <p:pic>
        <p:nvPicPr>
          <p:cNvPr id="9" name="Picture 8">
            <a:extLst>
              <a:ext uri="{FF2B5EF4-FFF2-40B4-BE49-F238E27FC236}">
                <a16:creationId xmlns:a16="http://schemas.microsoft.com/office/drawing/2014/main" id="{09D9F318-D75E-213F-F8D4-6207436E4E2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525442DE-41CF-13F5-C668-EF4C1202718A}"/>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9AD7E315-9F91-E53B-0D1A-2947CE28E80E}"/>
              </a:ext>
            </a:extLst>
          </p:cNvPr>
          <p:cNvSpPr txBox="1"/>
          <p:nvPr/>
        </p:nvSpPr>
        <p:spPr>
          <a:xfrm>
            <a:off x="395536" y="160697"/>
            <a:ext cx="8388424" cy="6740307"/>
          </a:xfrm>
          <a:prstGeom prst="rect">
            <a:avLst/>
          </a:prstGeom>
          <a:noFill/>
        </p:spPr>
        <p:txBody>
          <a:bodyPr wrap="square" rtlCol="0">
            <a:spAutoFit/>
          </a:bodyPr>
          <a:lstStyle/>
          <a:p>
            <a:pPr marL="285750" indent="-285750" algn="just">
              <a:buFont typeface="Wingdings" panose="05000000000000000000" pitchFamily="2" charset="2"/>
              <a:buChar char="Ø"/>
            </a:pPr>
            <a:r>
              <a:rPr lang="en-IN" b="1" u="sng" dirty="0">
                <a:solidFill>
                  <a:srgbClr val="0070C0"/>
                </a:solidFill>
                <a:latin typeface="Times New Roman" panose="02020603050405020304" pitchFamily="18" charset="0"/>
                <a:cs typeface="Times New Roman" panose="02020603050405020304" pitchFamily="18" charset="0"/>
              </a:rPr>
              <a:t>Medicine Scanner Feature:</a:t>
            </a:r>
            <a:endParaRPr lang="en-IN" u="sng" dirty="0">
              <a:solidFill>
                <a:srgbClr val="0070C0"/>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ü"/>
            </a:pPr>
            <a:r>
              <a:rPr lang="en-IN" b="1" dirty="0">
                <a:latin typeface="Times New Roman" panose="02020603050405020304" pitchFamily="18" charset="0"/>
                <a:cs typeface="Times New Roman" panose="02020603050405020304" pitchFamily="18" charset="0"/>
              </a:rPr>
              <a:t>OCR:</a:t>
            </a:r>
            <a:r>
              <a:rPr lang="en-IN" dirty="0">
                <a:latin typeface="Times New Roman" panose="02020603050405020304" pitchFamily="18" charset="0"/>
                <a:cs typeface="Times New Roman" panose="02020603050405020304" pitchFamily="18" charset="0"/>
              </a:rPr>
              <a:t> Scan medicine labels to extract textual information.</a:t>
            </a:r>
          </a:p>
          <a:p>
            <a:pPr marL="285750" indent="-285750" algn="just">
              <a:buFont typeface="Wingdings" panose="05000000000000000000" pitchFamily="2" charset="2"/>
              <a:buChar char="ü"/>
            </a:pPr>
            <a:r>
              <a:rPr lang="en-IN" b="1" dirty="0">
                <a:latin typeface="Times New Roman" panose="02020603050405020304" pitchFamily="18" charset="0"/>
                <a:cs typeface="Times New Roman" panose="02020603050405020304" pitchFamily="18" charset="0"/>
              </a:rPr>
              <a:t>Database Integration:</a:t>
            </a:r>
            <a:r>
              <a:rPr lang="en-IN" dirty="0">
                <a:latin typeface="Times New Roman" panose="02020603050405020304" pitchFamily="18" charset="0"/>
                <a:cs typeface="Times New Roman" panose="02020603050405020304" pitchFamily="18" charset="0"/>
              </a:rPr>
              <a:t> Link data with a medicine database via Flask APIs for detailed drug info.</a:t>
            </a:r>
          </a:p>
          <a:p>
            <a:pPr marL="285750" indent="-285750" algn="just">
              <a:buFont typeface="Wingdings" panose="05000000000000000000" pitchFamily="2" charset="2"/>
              <a:buChar char="ü"/>
            </a:pPr>
            <a:r>
              <a:rPr lang="en-IN" b="1" dirty="0">
                <a:latin typeface="Times New Roman" panose="02020603050405020304" pitchFamily="18" charset="0"/>
                <a:cs typeface="Times New Roman" panose="02020603050405020304" pitchFamily="18" charset="0"/>
              </a:rPr>
              <a:t>Real-Time Feedback:</a:t>
            </a:r>
            <a:r>
              <a:rPr lang="en-IN" dirty="0">
                <a:latin typeface="Times New Roman" panose="02020603050405020304" pitchFamily="18" charset="0"/>
                <a:cs typeface="Times New Roman" panose="02020603050405020304" pitchFamily="18" charset="0"/>
              </a:rPr>
              <a:t> Instantly display medication details for safe usage.</a:t>
            </a:r>
          </a:p>
          <a:p>
            <a:pPr algn="just"/>
            <a:endParaRPr lang="en-IN"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b="1" dirty="0">
                <a:solidFill>
                  <a:srgbClr val="0070C0"/>
                </a:solidFill>
                <a:latin typeface="Times New Roman" panose="02020603050405020304" pitchFamily="18" charset="0"/>
                <a:cs typeface="Times New Roman" panose="02020603050405020304" pitchFamily="18" charset="0"/>
              </a:rPr>
              <a:t>Data Visualization:</a:t>
            </a:r>
            <a:endParaRPr lang="en-US" dirty="0">
              <a:solidFill>
                <a:srgbClr val="0070C0"/>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ü"/>
            </a:pPr>
            <a:r>
              <a:rPr lang="en-US" b="1" dirty="0">
                <a:latin typeface="Times New Roman" panose="02020603050405020304" pitchFamily="18" charset="0"/>
                <a:cs typeface="Times New Roman" panose="02020603050405020304" pitchFamily="18" charset="0"/>
              </a:rPr>
              <a:t>Dynamic Charts:</a:t>
            </a:r>
            <a:r>
              <a:rPr lang="en-US" dirty="0">
                <a:latin typeface="Times New Roman" panose="02020603050405020304" pitchFamily="18" charset="0"/>
                <a:cs typeface="Times New Roman" panose="02020603050405020304" pitchFamily="18" charset="0"/>
              </a:rPr>
              <a:t> Create interactive health data visualizations with React.</a:t>
            </a:r>
          </a:p>
          <a:p>
            <a:pPr marL="285750" indent="-285750" algn="just">
              <a:buFont typeface="Wingdings" panose="05000000000000000000" pitchFamily="2" charset="2"/>
              <a:buChar char="ü"/>
            </a:pPr>
            <a:r>
              <a:rPr lang="en-US" b="1" dirty="0">
                <a:latin typeface="Times New Roman" panose="02020603050405020304" pitchFamily="18" charset="0"/>
                <a:cs typeface="Times New Roman" panose="02020603050405020304" pitchFamily="18" charset="0"/>
              </a:rPr>
              <a:t>Trend Analysis:</a:t>
            </a:r>
            <a:r>
              <a:rPr lang="en-US" dirty="0">
                <a:latin typeface="Times New Roman" panose="02020603050405020304" pitchFamily="18" charset="0"/>
                <a:cs typeface="Times New Roman" panose="02020603050405020304" pitchFamily="18" charset="0"/>
              </a:rPr>
              <a:t> Detect health patterns using statistical analysis.</a:t>
            </a:r>
          </a:p>
          <a:p>
            <a:pPr marL="285750" indent="-285750" algn="just">
              <a:buFont typeface="Wingdings" panose="05000000000000000000" pitchFamily="2" charset="2"/>
              <a:buChar char="ü"/>
            </a:pPr>
            <a:r>
              <a:rPr lang="en-US" b="1" dirty="0">
                <a:latin typeface="Times New Roman" panose="02020603050405020304" pitchFamily="18" charset="0"/>
                <a:cs typeface="Times New Roman" panose="02020603050405020304" pitchFamily="18" charset="0"/>
              </a:rPr>
              <a:t>Dashboard:</a:t>
            </a:r>
            <a:r>
              <a:rPr lang="en-US" dirty="0">
                <a:latin typeface="Times New Roman" panose="02020603050405020304" pitchFamily="18" charset="0"/>
                <a:cs typeface="Times New Roman" panose="02020603050405020304" pitchFamily="18" charset="0"/>
              </a:rPr>
              <a:t> Design a responsive dashboard for easy data interpretation</a:t>
            </a:r>
          </a:p>
          <a:p>
            <a:pPr algn="just"/>
            <a:endParaRPr 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IN" b="1" u="sng" dirty="0">
                <a:solidFill>
                  <a:srgbClr val="0070C0"/>
                </a:solidFill>
                <a:latin typeface="Times New Roman" panose="02020603050405020304" pitchFamily="18" charset="0"/>
                <a:cs typeface="Times New Roman" panose="02020603050405020304" pitchFamily="18" charset="0"/>
              </a:rPr>
              <a:t>Frontend Development (React):</a:t>
            </a:r>
            <a:endParaRPr lang="en-IN" u="sng" dirty="0">
              <a:solidFill>
                <a:srgbClr val="0070C0"/>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ü"/>
            </a:pPr>
            <a:r>
              <a:rPr lang="en-IN" b="1" dirty="0">
                <a:latin typeface="Times New Roman" panose="02020603050405020304" pitchFamily="18" charset="0"/>
                <a:cs typeface="Times New Roman" panose="02020603050405020304" pitchFamily="18" charset="0"/>
              </a:rPr>
              <a:t>Responsive UI:</a:t>
            </a:r>
            <a:r>
              <a:rPr lang="en-IN" dirty="0">
                <a:latin typeface="Times New Roman" panose="02020603050405020304" pitchFamily="18" charset="0"/>
                <a:cs typeface="Times New Roman" panose="02020603050405020304" pitchFamily="18" charset="0"/>
              </a:rPr>
              <a:t> Build interfaces compatible with various devices.</a:t>
            </a:r>
          </a:p>
          <a:p>
            <a:pPr marL="285750" indent="-285750" algn="just">
              <a:buFont typeface="Wingdings" panose="05000000000000000000" pitchFamily="2" charset="2"/>
              <a:buChar char="ü"/>
            </a:pPr>
            <a:r>
              <a:rPr lang="en-IN" b="1" dirty="0">
                <a:latin typeface="Times New Roman" panose="02020603050405020304" pitchFamily="18" charset="0"/>
                <a:cs typeface="Times New Roman" panose="02020603050405020304" pitchFamily="18" charset="0"/>
              </a:rPr>
              <a:t>Interactive Components:</a:t>
            </a:r>
            <a:r>
              <a:rPr lang="en-IN" dirty="0">
                <a:latin typeface="Times New Roman" panose="02020603050405020304" pitchFamily="18" charset="0"/>
                <a:cs typeface="Times New Roman" panose="02020603050405020304" pitchFamily="18" charset="0"/>
              </a:rPr>
              <a:t> Develop dynamic forms, charts, and real-time notifications.</a:t>
            </a:r>
          </a:p>
          <a:p>
            <a:pPr marL="285750" indent="-285750" algn="just">
              <a:buFont typeface="Wingdings" panose="05000000000000000000" pitchFamily="2" charset="2"/>
              <a:buChar char="ü"/>
            </a:pPr>
            <a:r>
              <a:rPr lang="en-IN" b="1" dirty="0">
                <a:latin typeface="Times New Roman" panose="02020603050405020304" pitchFamily="18" charset="0"/>
                <a:cs typeface="Times New Roman" panose="02020603050405020304" pitchFamily="18" charset="0"/>
              </a:rPr>
              <a:t>API Integration:</a:t>
            </a:r>
            <a:r>
              <a:rPr lang="en-IN" dirty="0">
                <a:latin typeface="Times New Roman" panose="02020603050405020304" pitchFamily="18" charset="0"/>
                <a:cs typeface="Times New Roman" panose="02020603050405020304" pitchFamily="18" charset="0"/>
              </a:rPr>
              <a:t> Connect frontend with Node.js backend via RESTful APIs.</a:t>
            </a:r>
          </a:p>
          <a:p>
            <a:pPr algn="just"/>
            <a:endParaRPr lang="en-IN"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b="1" u="sng" dirty="0">
                <a:solidFill>
                  <a:srgbClr val="0070C0"/>
                </a:solidFill>
                <a:latin typeface="Times New Roman" panose="02020603050405020304" pitchFamily="18" charset="0"/>
                <a:cs typeface="Times New Roman" panose="02020603050405020304" pitchFamily="18" charset="0"/>
              </a:rPr>
              <a:t>Testing and Evaluation:</a:t>
            </a:r>
            <a:endParaRPr lang="en-US" u="sng" dirty="0">
              <a:solidFill>
                <a:srgbClr val="0070C0"/>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ü"/>
            </a:pPr>
            <a:r>
              <a:rPr lang="en-US" b="1" dirty="0">
                <a:latin typeface="Times New Roman" panose="02020603050405020304" pitchFamily="18" charset="0"/>
                <a:cs typeface="Times New Roman" panose="02020603050405020304" pitchFamily="18" charset="0"/>
              </a:rPr>
              <a:t>Unit Testing:</a:t>
            </a:r>
            <a:r>
              <a:rPr lang="en-US" dirty="0">
                <a:latin typeface="Times New Roman" panose="02020603050405020304" pitchFamily="18" charset="0"/>
                <a:cs typeface="Times New Roman" panose="02020603050405020304" pitchFamily="18" charset="0"/>
              </a:rPr>
              <a:t> Test components individually using Jest.</a:t>
            </a:r>
          </a:p>
          <a:p>
            <a:pPr marL="285750" indent="-285750" algn="just">
              <a:buFont typeface="Wingdings" panose="05000000000000000000" pitchFamily="2" charset="2"/>
              <a:buChar char="ü"/>
            </a:pPr>
            <a:r>
              <a:rPr lang="en-US" b="1" dirty="0">
                <a:latin typeface="Times New Roman" panose="02020603050405020304" pitchFamily="18" charset="0"/>
                <a:cs typeface="Times New Roman" panose="02020603050405020304" pitchFamily="18" charset="0"/>
              </a:rPr>
              <a:t>Integration Testing:</a:t>
            </a:r>
            <a:r>
              <a:rPr lang="en-US" dirty="0">
                <a:latin typeface="Times New Roman" panose="02020603050405020304" pitchFamily="18" charset="0"/>
                <a:cs typeface="Times New Roman" panose="02020603050405020304" pitchFamily="18" charset="0"/>
              </a:rPr>
              <a:t> Ensure smooth interaction between APIs, frontend, and backend.</a:t>
            </a:r>
          </a:p>
          <a:p>
            <a:pPr marL="285750" indent="-285750" algn="just">
              <a:buFont typeface="Wingdings" panose="05000000000000000000" pitchFamily="2" charset="2"/>
              <a:buChar char="ü"/>
            </a:pPr>
            <a:r>
              <a:rPr lang="en-US" b="1" dirty="0">
                <a:latin typeface="Times New Roman" panose="02020603050405020304" pitchFamily="18" charset="0"/>
                <a:cs typeface="Times New Roman" panose="02020603050405020304" pitchFamily="18" charset="0"/>
              </a:rPr>
              <a:t>Performance Evaluation:</a:t>
            </a:r>
            <a:r>
              <a:rPr lang="en-US" dirty="0">
                <a:latin typeface="Times New Roman" panose="02020603050405020304" pitchFamily="18" charset="0"/>
                <a:cs typeface="Times New Roman" panose="02020603050405020304" pitchFamily="18" charset="0"/>
              </a:rPr>
              <a:t> Analyze system efficiency under different conditions.</a:t>
            </a:r>
          </a:p>
          <a:p>
            <a:pPr marL="285750" indent="-285750">
              <a:buFont typeface="Wingdings" panose="05000000000000000000" pitchFamily="2" charset="2"/>
              <a:buChar char="ü"/>
            </a:pPr>
            <a:endParaRPr lang="en-IN" dirty="0"/>
          </a:p>
          <a:p>
            <a:endParaRPr lang="en-IN" dirty="0"/>
          </a:p>
        </p:txBody>
      </p:sp>
    </p:spTree>
    <p:extLst>
      <p:ext uri="{BB962C8B-B14F-4D97-AF65-F5344CB8AC3E}">
        <p14:creationId xmlns:p14="http://schemas.microsoft.com/office/powerpoint/2010/main" val="7053451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2A8415-5DE4-ED22-44D2-4C867F621A30}"/>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B05253F0-EC1F-B657-F6C3-4BB7A2A4F347}"/>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pic>
        <p:nvPicPr>
          <p:cNvPr id="9" name="Picture 8">
            <a:extLst>
              <a:ext uri="{FF2B5EF4-FFF2-40B4-BE49-F238E27FC236}">
                <a16:creationId xmlns:a16="http://schemas.microsoft.com/office/drawing/2014/main" id="{3506C083-5893-8EC5-10B0-EABECC8EC8F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8F49C040-1088-77C8-D71C-CFFF276D3BA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ABAEE47C-8D5A-AD15-C762-9ABC83B6CCE7}"/>
              </a:ext>
            </a:extLst>
          </p:cNvPr>
          <p:cNvSpPr txBox="1"/>
          <p:nvPr/>
        </p:nvSpPr>
        <p:spPr>
          <a:xfrm>
            <a:off x="179512" y="215863"/>
            <a:ext cx="8424936" cy="5909310"/>
          </a:xfrm>
          <a:prstGeom prst="rect">
            <a:avLst/>
          </a:prstGeom>
          <a:noFill/>
        </p:spPr>
        <p:txBody>
          <a:bodyPr wrap="square" rtlCol="0">
            <a:spAutoFit/>
          </a:bodyPr>
          <a:lstStyle/>
          <a:p>
            <a:pPr marL="285750" indent="-285750" algn="just">
              <a:buFont typeface="Wingdings" panose="05000000000000000000" pitchFamily="2" charset="2"/>
              <a:buChar char="Ø"/>
            </a:pPr>
            <a:r>
              <a:rPr lang="en-US" b="1" u="sng" dirty="0">
                <a:solidFill>
                  <a:srgbClr val="0070C0"/>
                </a:solidFill>
                <a:latin typeface="Times New Roman" panose="02020603050405020304" pitchFamily="18" charset="0"/>
                <a:cs typeface="Times New Roman" panose="02020603050405020304" pitchFamily="18" charset="0"/>
              </a:rPr>
              <a:t>Deployment and Maintenance:</a:t>
            </a:r>
            <a:endParaRPr lang="en-US" u="sng" dirty="0">
              <a:solidFill>
                <a:srgbClr val="0070C0"/>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ü"/>
            </a:pPr>
            <a:r>
              <a:rPr lang="en-US" b="1" dirty="0">
                <a:latin typeface="Times New Roman" panose="02020603050405020304" pitchFamily="18" charset="0"/>
                <a:cs typeface="Times New Roman" panose="02020603050405020304" pitchFamily="18" charset="0"/>
              </a:rPr>
              <a:t>Deployment:</a:t>
            </a:r>
            <a:r>
              <a:rPr lang="en-US" dirty="0">
                <a:latin typeface="Times New Roman" panose="02020603050405020304" pitchFamily="18" charset="0"/>
                <a:cs typeface="Times New Roman" panose="02020603050405020304" pitchFamily="18" charset="0"/>
              </a:rPr>
              <a:t> Host G-One on secure cloud platforms like AWS or Azure for scalability.</a:t>
            </a:r>
          </a:p>
          <a:p>
            <a:pPr marL="285750" indent="-285750" algn="just">
              <a:buFont typeface="Wingdings" panose="05000000000000000000" pitchFamily="2" charset="2"/>
              <a:buChar char="ü"/>
            </a:pPr>
            <a:r>
              <a:rPr lang="en-US" b="1" dirty="0">
                <a:latin typeface="Times New Roman" panose="02020603050405020304" pitchFamily="18" charset="0"/>
                <a:cs typeface="Times New Roman" panose="02020603050405020304" pitchFamily="18" charset="0"/>
              </a:rPr>
              <a:t>Updates:</a:t>
            </a:r>
            <a:r>
              <a:rPr lang="en-US" dirty="0">
                <a:latin typeface="Times New Roman" panose="02020603050405020304" pitchFamily="18" charset="0"/>
                <a:cs typeface="Times New Roman" panose="02020603050405020304" pitchFamily="18" charset="0"/>
              </a:rPr>
              <a:t> Regularly update to add features, improve performance, and fix bugs.</a:t>
            </a:r>
          </a:p>
          <a:p>
            <a:pPr marL="285750" indent="-285750" algn="just">
              <a:buFont typeface="Wingdings" panose="05000000000000000000" pitchFamily="2" charset="2"/>
              <a:buChar char="ü"/>
            </a:pPr>
            <a:r>
              <a:rPr lang="en-US" b="1" dirty="0">
                <a:latin typeface="Times New Roman" panose="02020603050405020304" pitchFamily="18" charset="0"/>
                <a:cs typeface="Times New Roman" panose="02020603050405020304" pitchFamily="18" charset="0"/>
              </a:rPr>
              <a:t>Feedback Loop:</a:t>
            </a:r>
            <a:r>
              <a:rPr lang="en-US" dirty="0">
                <a:latin typeface="Times New Roman" panose="02020603050405020304" pitchFamily="18" charset="0"/>
                <a:cs typeface="Times New Roman" panose="02020603050405020304" pitchFamily="18" charset="0"/>
              </a:rPr>
              <a:t> Use user feedback for continuous improvement.</a:t>
            </a:r>
          </a:p>
          <a:p>
            <a:pPr marL="285750" indent="-285750" algn="just">
              <a:buFont typeface="Wingdings" panose="05000000000000000000" pitchFamily="2" charset="2"/>
              <a:buChar char="ü"/>
            </a:pPr>
            <a:endParaRPr 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v"/>
            </a:pPr>
            <a:r>
              <a:rPr lang="en-US" b="1" u="sng" dirty="0">
                <a:latin typeface="Times New Roman" panose="02020603050405020304" pitchFamily="18" charset="0"/>
                <a:cs typeface="Times New Roman" panose="02020603050405020304" pitchFamily="18" charset="0"/>
              </a:rPr>
              <a:t>Tools, Software, and Techniques Used</a:t>
            </a:r>
          </a:p>
          <a:p>
            <a:pPr marL="342900" indent="-342900" algn="just">
              <a:buAutoNum type="arabicPeriod"/>
            </a:pPr>
            <a:r>
              <a:rPr lang="en-IN" dirty="0">
                <a:latin typeface="Times New Roman" panose="02020603050405020304" pitchFamily="18" charset="0"/>
                <a:cs typeface="Times New Roman" panose="02020603050405020304" pitchFamily="18" charset="0"/>
              </a:rPr>
              <a:t>Git &amp; GitHub</a:t>
            </a:r>
          </a:p>
          <a:p>
            <a:pPr marL="342900" indent="-342900" algn="just">
              <a:buAutoNum type="arabicPeriod"/>
            </a:pPr>
            <a:r>
              <a:rPr lang="en-IN" dirty="0">
                <a:latin typeface="Times New Roman" panose="02020603050405020304" pitchFamily="18" charset="0"/>
                <a:cs typeface="Times New Roman" panose="02020603050405020304" pitchFamily="18" charset="0"/>
              </a:rPr>
              <a:t>React Vite</a:t>
            </a:r>
          </a:p>
          <a:p>
            <a:pPr marL="342900" indent="-342900" algn="just">
              <a:buAutoNum type="arabicPeriod"/>
            </a:pPr>
            <a:r>
              <a:rPr lang="en-IN" dirty="0">
                <a:latin typeface="Times New Roman" panose="02020603050405020304" pitchFamily="18" charset="0"/>
                <a:cs typeface="Times New Roman" panose="02020603050405020304" pitchFamily="18" charset="0"/>
              </a:rPr>
              <a:t>Express</a:t>
            </a:r>
          </a:p>
          <a:p>
            <a:pPr marL="342900" indent="-342900" algn="just">
              <a:buAutoNum type="arabicPeriod"/>
            </a:pPr>
            <a:r>
              <a:rPr lang="en-IN" dirty="0">
                <a:latin typeface="Times New Roman" panose="02020603050405020304" pitchFamily="18" charset="0"/>
                <a:cs typeface="Times New Roman" panose="02020603050405020304" pitchFamily="18" charset="0"/>
              </a:rPr>
              <a:t>Node.js</a:t>
            </a:r>
          </a:p>
          <a:p>
            <a:pPr marL="342900" indent="-342900" algn="just">
              <a:buAutoNum type="arabicPeriod"/>
            </a:pPr>
            <a:r>
              <a:rPr lang="en-IN" dirty="0">
                <a:latin typeface="Times New Roman" panose="02020603050405020304" pitchFamily="18" charset="0"/>
                <a:cs typeface="Times New Roman" panose="02020603050405020304" pitchFamily="18" charset="0"/>
              </a:rPr>
              <a:t>DVC(Data Version Control)</a:t>
            </a:r>
          </a:p>
          <a:p>
            <a:pPr marL="342900" indent="-342900" algn="just">
              <a:buAutoNum type="arabicPeriod"/>
            </a:pPr>
            <a:r>
              <a:rPr lang="en-IN" dirty="0">
                <a:latin typeface="Times New Roman" panose="02020603050405020304" pitchFamily="18" charset="0"/>
                <a:cs typeface="Times New Roman" panose="02020603050405020304" pitchFamily="18" charset="0"/>
              </a:rPr>
              <a:t>Hugging Face</a:t>
            </a:r>
          </a:p>
          <a:p>
            <a:pPr marL="342900" indent="-342900" algn="just">
              <a:buAutoNum type="arabicPeriod"/>
            </a:pPr>
            <a:r>
              <a:rPr lang="en-IN" dirty="0">
                <a:latin typeface="Times New Roman" panose="02020603050405020304" pitchFamily="18" charset="0"/>
                <a:cs typeface="Times New Roman" panose="02020603050405020304" pitchFamily="18" charset="0"/>
              </a:rPr>
              <a:t>Flask</a:t>
            </a:r>
          </a:p>
          <a:p>
            <a:pPr marL="342900" indent="-342900" algn="just">
              <a:buAutoNum type="arabicPeriod"/>
            </a:pPr>
            <a:r>
              <a:rPr lang="en-IN" dirty="0">
                <a:latin typeface="Times New Roman" panose="02020603050405020304" pitchFamily="18" charset="0"/>
                <a:cs typeface="Times New Roman" panose="02020603050405020304" pitchFamily="18" charset="0"/>
              </a:rPr>
              <a:t>Postman</a:t>
            </a:r>
          </a:p>
          <a:p>
            <a:pPr marL="342900" indent="-342900" algn="just">
              <a:buAutoNum type="arabicPeriod"/>
            </a:pPr>
            <a:endParaRPr lang="en-IN"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v"/>
            </a:pPr>
            <a:r>
              <a:rPr lang="en-IN" b="1" u="sng" dirty="0">
                <a:latin typeface="Times New Roman" panose="02020603050405020304" pitchFamily="18" charset="0"/>
                <a:cs typeface="Times New Roman" panose="02020603050405020304" pitchFamily="18" charset="0"/>
              </a:rPr>
              <a:t>Justification for Chosen Methods</a:t>
            </a:r>
          </a:p>
          <a:p>
            <a:pPr marL="342900" indent="-342900" algn="just">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Git &amp; GitHub</a:t>
            </a:r>
            <a:r>
              <a:rPr lang="en-US" dirty="0">
                <a:latin typeface="Times New Roman" panose="02020603050405020304" pitchFamily="18" charset="0"/>
                <a:cs typeface="Times New Roman" panose="02020603050405020304" pitchFamily="18" charset="0"/>
              </a:rPr>
              <a:t> allow effective version control, improving team collaboration and tracking project progress.</a:t>
            </a:r>
          </a:p>
          <a:p>
            <a:pPr marL="342900" indent="-342900" algn="just">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React</a:t>
            </a:r>
            <a:r>
              <a:rPr lang="en-US" dirty="0">
                <a:latin typeface="Times New Roman" panose="02020603050405020304" pitchFamily="18" charset="0"/>
                <a:cs typeface="Times New Roman" panose="02020603050405020304" pitchFamily="18" charset="0"/>
              </a:rPr>
              <a:t> offers a dynamic and responsive UI, enhancing user interaction and accessibility across devices.</a:t>
            </a:r>
            <a:endParaRPr lang="en-IN" b="1" u="sn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191558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CAC78625-FF55-D84F-F831-6C4563A56EAB}"/>
              </a:ext>
            </a:extLst>
          </p:cNvPr>
          <p:cNvSpPr txBox="1"/>
          <p:nvPr/>
        </p:nvSpPr>
        <p:spPr>
          <a:xfrm>
            <a:off x="179512" y="404664"/>
            <a:ext cx="8640960" cy="2585323"/>
          </a:xfrm>
          <a:prstGeom prst="rect">
            <a:avLst/>
          </a:prstGeom>
          <a:noFill/>
        </p:spPr>
        <p:txBody>
          <a:bodyPr wrap="square" rtlCol="0">
            <a:spAutoFit/>
          </a:bodyPr>
          <a:lstStyle/>
          <a:p>
            <a:pPr marL="342900" indent="-342900" algn="just">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Express &amp; Node.js</a:t>
            </a:r>
            <a:r>
              <a:rPr lang="en-US" dirty="0">
                <a:latin typeface="Times New Roman" panose="02020603050405020304" pitchFamily="18" charset="0"/>
                <a:cs typeface="Times New Roman" panose="02020603050405020304" pitchFamily="18" charset="0"/>
              </a:rPr>
              <a:t> create a robust backend structure, ensuring fast API responses and scalable performance.</a:t>
            </a:r>
          </a:p>
          <a:p>
            <a:pPr marL="342900" indent="-342900" algn="just">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DVC</a:t>
            </a:r>
            <a:r>
              <a:rPr lang="en-US" dirty="0">
                <a:latin typeface="Times New Roman" panose="02020603050405020304" pitchFamily="18" charset="0"/>
                <a:cs typeface="Times New Roman" panose="02020603050405020304" pitchFamily="18" charset="0"/>
              </a:rPr>
              <a:t> ensures proper data management, making it easier to track data changes during model development.</a:t>
            </a:r>
          </a:p>
          <a:p>
            <a:pPr marL="342900" indent="-342900" algn="just">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Hugging Face</a:t>
            </a:r>
            <a:r>
              <a:rPr lang="en-US" dirty="0">
                <a:latin typeface="Times New Roman" panose="02020603050405020304" pitchFamily="18" charset="0"/>
                <a:cs typeface="Times New Roman" panose="02020603050405020304" pitchFamily="18" charset="0"/>
              </a:rPr>
              <a:t> offers pre-trained models that improve health data analysis and symptom prediction accuracy.</a:t>
            </a:r>
          </a:p>
          <a:p>
            <a:pPr marL="342900" indent="-342900" algn="just">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Flask</a:t>
            </a:r>
            <a:r>
              <a:rPr lang="en-US" dirty="0">
                <a:latin typeface="Times New Roman" panose="02020603050405020304" pitchFamily="18" charset="0"/>
                <a:cs typeface="Times New Roman" panose="02020603050405020304" pitchFamily="18" charset="0"/>
              </a:rPr>
              <a:t> simplifies API development, ensuring smooth integration of machine learning models.</a:t>
            </a:r>
          </a:p>
          <a:p>
            <a:pPr marL="342900" indent="-342900" algn="just">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Postman</a:t>
            </a:r>
            <a:r>
              <a:rPr lang="en-US" dirty="0">
                <a:latin typeface="Times New Roman" panose="02020603050405020304" pitchFamily="18" charset="0"/>
                <a:cs typeface="Times New Roman" panose="02020603050405020304" pitchFamily="18" charset="0"/>
              </a:rPr>
              <a:t> ensures APIs are functional, secure, and efficient through rigorous testing.</a:t>
            </a:r>
          </a:p>
        </p:txBody>
      </p:sp>
    </p:spTree>
    <p:extLst>
      <p:ext uri="{BB962C8B-B14F-4D97-AF65-F5344CB8AC3E}">
        <p14:creationId xmlns:p14="http://schemas.microsoft.com/office/powerpoint/2010/main" val="20933716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A4DB20-76EE-057D-BC32-2A8BDF2729CF}"/>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BB162E1-84D0-92AE-D523-12B76D4BDDBD}"/>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A7ECFD60-E8CB-E15B-4311-5A9CA8966FED}"/>
              </a:ext>
            </a:extLst>
          </p:cNvPr>
          <p:cNvSpPr>
            <a:spLocks noChangeArrowheads="1"/>
          </p:cNvSpPr>
          <p:nvPr/>
        </p:nvSpPr>
        <p:spPr bwMode="auto">
          <a:xfrm>
            <a:off x="177133" y="218245"/>
            <a:ext cx="828092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Methodology Flowchart</a:t>
            </a: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CF54F330-26CF-BBEB-8801-FBF1B989D702}"/>
              </a:ext>
            </a:extLst>
          </p:cNvPr>
          <p:cNvCxnSpPr/>
          <p:nvPr/>
        </p:nvCxnSpPr>
        <p:spPr>
          <a:xfrm>
            <a:off x="0" y="908720"/>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F4664E78-C9D0-2288-E0B2-81B7EB48039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5570AF1B-942B-3210-8DD7-FD87DC8A0C32}"/>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pic>
        <p:nvPicPr>
          <p:cNvPr id="2" name="Picture 1">
            <a:extLst>
              <a:ext uri="{FF2B5EF4-FFF2-40B4-BE49-F238E27FC236}">
                <a16:creationId xmlns:a16="http://schemas.microsoft.com/office/drawing/2014/main" id="{C40F89A8-9975-BADE-8A2C-4CA17403BF66}"/>
              </a:ext>
            </a:extLst>
          </p:cNvPr>
          <p:cNvPicPr>
            <a:picLocks noChangeAspect="1"/>
          </p:cNvPicPr>
          <p:nvPr/>
        </p:nvPicPr>
        <p:blipFill>
          <a:blip r:embed="rId5"/>
          <a:stretch>
            <a:fillRect/>
          </a:stretch>
        </p:blipFill>
        <p:spPr>
          <a:xfrm>
            <a:off x="591014" y="1021266"/>
            <a:ext cx="7867040" cy="5151426"/>
          </a:xfrm>
          <a:prstGeom prst="rect">
            <a:avLst/>
          </a:prstGeom>
        </p:spPr>
      </p:pic>
    </p:spTree>
    <p:extLst>
      <p:ext uri="{BB962C8B-B14F-4D97-AF65-F5344CB8AC3E}">
        <p14:creationId xmlns:p14="http://schemas.microsoft.com/office/powerpoint/2010/main" val="29265193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8D841B-74CA-DD08-DC57-2744796991CE}"/>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EAC2900B-3645-9BD6-81D9-B808969A6610}"/>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C8ECEBC8-6DCD-2500-2951-CF7967A47215}"/>
              </a:ext>
            </a:extLst>
          </p:cNvPr>
          <p:cNvSpPr>
            <a:spLocks noChangeArrowheads="1"/>
          </p:cNvSpPr>
          <p:nvPr/>
        </p:nvSpPr>
        <p:spPr bwMode="auto">
          <a:xfrm>
            <a:off x="177133" y="346645"/>
            <a:ext cx="828092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Project Timeline</a:t>
            </a: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DB126F11-6A87-E75F-D5F6-D578C1CC7C27}"/>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006947D3-B53B-9D95-1C04-7E3AA0B640B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45C40F21-AABC-DFB9-90B1-AD1CF565BB7B}"/>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graphicFrame>
        <p:nvGraphicFramePr>
          <p:cNvPr id="2" name="Diagram 1">
            <a:extLst>
              <a:ext uri="{FF2B5EF4-FFF2-40B4-BE49-F238E27FC236}">
                <a16:creationId xmlns:a16="http://schemas.microsoft.com/office/drawing/2014/main" id="{74903B68-472C-CD6F-4397-EBC47291B547}"/>
              </a:ext>
            </a:extLst>
          </p:cNvPr>
          <p:cNvGraphicFramePr/>
          <p:nvPr>
            <p:extLst>
              <p:ext uri="{D42A27DB-BD31-4B8C-83A1-F6EECF244321}">
                <p14:modId xmlns:p14="http://schemas.microsoft.com/office/powerpoint/2010/main" val="545648803"/>
              </p:ext>
            </p:extLst>
          </p:nvPr>
        </p:nvGraphicFramePr>
        <p:xfrm>
          <a:off x="611560" y="1501140"/>
          <a:ext cx="7846493" cy="4063026"/>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17237014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p:cNvSpPr>
            <a:spLocks noChangeArrowheads="1"/>
          </p:cNvSpPr>
          <p:nvPr/>
        </p:nvSpPr>
        <p:spPr bwMode="auto">
          <a:xfrm>
            <a:off x="103414" y="298973"/>
            <a:ext cx="684484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Expected Results &amp; Impact</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28A0BA87-FFCE-0AD9-17CC-A811FB343CCE}"/>
              </a:ext>
            </a:extLst>
          </p:cNvPr>
          <p:cNvSpPr txBox="1"/>
          <p:nvPr/>
        </p:nvSpPr>
        <p:spPr>
          <a:xfrm>
            <a:off x="179512" y="1182721"/>
            <a:ext cx="8784976" cy="5078313"/>
          </a:xfrm>
          <a:prstGeom prst="rect">
            <a:avLst/>
          </a:prstGeom>
          <a:noFill/>
        </p:spPr>
        <p:txBody>
          <a:bodyPr wrap="square">
            <a:spAutoFit/>
          </a:bodyPr>
          <a:lstStyle/>
          <a:p>
            <a:pPr marL="285750" indent="-285750" algn="just">
              <a:buFont typeface="Wingdings" panose="05000000000000000000" pitchFamily="2" charset="2"/>
              <a:buChar char="q"/>
            </a:pPr>
            <a:r>
              <a:rPr lang="en-IN" b="1" u="sng" dirty="0">
                <a:latin typeface="Times New Roman" panose="02020603050405020304" pitchFamily="18" charset="0"/>
                <a:cs typeface="Times New Roman" panose="02020603050405020304" pitchFamily="18" charset="0"/>
              </a:rPr>
              <a:t>Anticipated Outcomes of G-One:</a:t>
            </a:r>
          </a:p>
          <a:p>
            <a:pPr marL="285750" indent="-285750" algn="just">
              <a:buFont typeface="Wingdings" panose="05000000000000000000" pitchFamily="2" charset="2"/>
              <a:buChar char="ü"/>
            </a:pPr>
            <a:r>
              <a:rPr lang="en-US" b="1" u="sng" dirty="0">
                <a:solidFill>
                  <a:srgbClr val="0070C0"/>
                </a:solidFill>
                <a:latin typeface="Times New Roman" panose="02020603050405020304" pitchFamily="18" charset="0"/>
                <a:cs typeface="Times New Roman" panose="02020603050405020304" pitchFamily="18" charset="0"/>
              </a:rPr>
              <a:t>Improved Health Literacy:</a:t>
            </a:r>
            <a:r>
              <a:rPr lang="en-US" u="sng" dirty="0">
                <a:solidFill>
                  <a:srgbClr val="0070C0"/>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Users will gain a clearer understanding of their medical reports, symptoms, and treatment options, making complex health information more accessible.</a:t>
            </a:r>
            <a:endParaRPr lang="en-IN" b="1"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ü"/>
            </a:pPr>
            <a:r>
              <a:rPr lang="en-US" b="1" u="sng" dirty="0">
                <a:solidFill>
                  <a:srgbClr val="0070C0"/>
                </a:solidFill>
                <a:latin typeface="Times New Roman" panose="02020603050405020304" pitchFamily="18" charset="0"/>
                <a:cs typeface="Times New Roman" panose="02020603050405020304" pitchFamily="18" charset="0"/>
              </a:rPr>
              <a:t>Informed Decision-Making:</a:t>
            </a:r>
            <a:r>
              <a:rPr lang="en-US" u="sng" dirty="0">
                <a:solidFill>
                  <a:srgbClr val="0070C0"/>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Simplified health insights will enable users to make better, proactive health decisions, reducing confusion and anxiety.</a:t>
            </a:r>
            <a:endParaRPr lang="en-IN" b="1"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ü"/>
            </a:pPr>
            <a:r>
              <a:rPr lang="en-US" b="1" u="sng" dirty="0">
                <a:solidFill>
                  <a:srgbClr val="0070C0"/>
                </a:solidFill>
                <a:latin typeface="Times New Roman" panose="02020603050405020304" pitchFamily="18" charset="0"/>
                <a:cs typeface="Times New Roman" panose="02020603050405020304" pitchFamily="18" charset="0"/>
              </a:rPr>
              <a:t>Personalized Health Guidance:</a:t>
            </a:r>
            <a:r>
              <a:rPr lang="en-US" u="sng" dirty="0">
                <a:solidFill>
                  <a:srgbClr val="0070C0"/>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Tailored exercise plans and dietary recommendations will support users in managing their health conditions and promoting overall well-being.</a:t>
            </a:r>
          </a:p>
          <a:p>
            <a:pPr marL="285750" indent="-285750" algn="just">
              <a:buFont typeface="Wingdings" panose="05000000000000000000" pitchFamily="2" charset="2"/>
              <a:buChar char="ü"/>
            </a:pPr>
            <a:r>
              <a:rPr lang="en-US" b="1" u="sng" dirty="0">
                <a:solidFill>
                  <a:srgbClr val="0070C0"/>
                </a:solidFill>
                <a:latin typeface="Times New Roman" panose="02020603050405020304" pitchFamily="18" charset="0"/>
                <a:cs typeface="Times New Roman" panose="02020603050405020304" pitchFamily="18" charset="0"/>
              </a:rPr>
              <a:t>Enhanced User Empowerment:</a:t>
            </a:r>
            <a:r>
              <a:rPr lang="en-US" u="sng" dirty="0">
                <a:solidFill>
                  <a:srgbClr val="0070C0"/>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By providing tools like symptom checkers and medicine scanners, G-One will reduce dependency on healthcare professionals for basic explanations, fostering self-management.</a:t>
            </a:r>
          </a:p>
          <a:p>
            <a:pPr marL="285750" indent="-285750" algn="just">
              <a:buFont typeface="Wingdings" panose="05000000000000000000" pitchFamily="2" charset="2"/>
              <a:buChar char="q"/>
            </a:pPr>
            <a:r>
              <a:rPr lang="en-US" dirty="0"/>
              <a:t> G-One is designed to </a:t>
            </a:r>
            <a:r>
              <a:rPr lang="en-US" b="1" dirty="0"/>
              <a:t>effectively address </a:t>
            </a:r>
            <a:r>
              <a:rPr lang="en-US" dirty="0"/>
              <a:t>the challenges faced by individuals in interpreting complex medical reports. By simplifying medical data into easy-to-understand language, providing actionable health insights, and incorporating features like symptom checkers and medicine scanners, it bridges the communication gap between patients and medical information. Its personalized recommendations, combined with dynamic data visualization, will empower users to make informed health decisions, reducing confusion and anxiety about their health status.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62604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B227B2-9BF0-3E9A-F7A0-EC9C4E795770}"/>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5EFC4FB5-22A9-07A0-293B-2E5A49493514}"/>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pic>
        <p:nvPicPr>
          <p:cNvPr id="9" name="Picture 8">
            <a:extLst>
              <a:ext uri="{FF2B5EF4-FFF2-40B4-BE49-F238E27FC236}">
                <a16:creationId xmlns:a16="http://schemas.microsoft.com/office/drawing/2014/main" id="{E580FE23-7B09-70D4-E87E-B59A4096B1E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7C3D0C1C-6A7E-EF53-9673-483D3A44FB88}"/>
              </a:ext>
            </a:extLst>
          </p:cNvPr>
          <p:cNvSpPr txBox="1"/>
          <p:nvPr/>
        </p:nvSpPr>
        <p:spPr>
          <a:xfrm>
            <a:off x="43820" y="116632"/>
            <a:ext cx="8999984" cy="6888745"/>
          </a:xfrm>
          <a:prstGeom prst="rect">
            <a:avLst/>
          </a:prstGeom>
          <a:noFill/>
        </p:spPr>
        <p:txBody>
          <a:bodyPr wrap="square">
            <a:spAutoFit/>
          </a:bodyPr>
          <a:lstStyle/>
          <a:p>
            <a:pPr marL="285750" marR="0" indent="-285750" algn="just" fontAlgn="base">
              <a:lnSpc>
                <a:spcPct val="107000"/>
              </a:lnSpc>
              <a:spcBef>
                <a:spcPts val="0"/>
              </a:spcBef>
              <a:spcAft>
                <a:spcPts val="0"/>
              </a:spcAf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G-One will deliver a </a:t>
            </a:r>
            <a:r>
              <a:rPr lang="en-US" b="1" dirty="0">
                <a:latin typeface="Times New Roman" panose="02020603050405020304" pitchFamily="18" charset="0"/>
                <a:cs typeface="Times New Roman" panose="02020603050405020304" pitchFamily="18" charset="0"/>
              </a:rPr>
              <a:t>working prototype</a:t>
            </a:r>
            <a:r>
              <a:rPr lang="en-US" dirty="0">
                <a:latin typeface="Times New Roman" panose="02020603050405020304" pitchFamily="18" charset="0"/>
                <a:cs typeface="Times New Roman" panose="02020603050405020304" pitchFamily="18" charset="0"/>
              </a:rPr>
              <a:t> as part of the project. This will be a web-based application where users can upload medical reports, scan medications, check symptoms, and receive personalized health insights. The prototype will demonstrate core functionalities, including report analysis, OCR integration, medicine scanning, dietary planning, and data visualization. It will showcase real-time interactions, secure data handling, and responsive design, offering a practical simulation of the final product's capabilities.</a:t>
            </a:r>
          </a:p>
          <a:p>
            <a:pPr marR="0" algn="just" fontAlgn="base">
              <a:lnSpc>
                <a:spcPct val="107000"/>
              </a:lnSpc>
              <a:spcBef>
                <a:spcPts val="0"/>
              </a:spcBef>
              <a:spcAft>
                <a:spcPts val="0"/>
              </a:spcAft>
            </a:pPr>
            <a:endParaRPr lang="en-US"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marR="0" indent="-285750" algn="just" fontAlgn="base">
              <a:lnSpc>
                <a:spcPct val="107000"/>
              </a:lnSpc>
              <a:spcBef>
                <a:spcPts val="0"/>
              </a:spcBef>
              <a:spcAft>
                <a:spcPts val="0"/>
              </a:spcAft>
              <a:buFont typeface="Wingdings" panose="05000000000000000000" pitchFamily="2" charset="2"/>
              <a:buChar char="q"/>
            </a:pPr>
            <a:r>
              <a:rPr lang="en-US" b="1" u="sng" kern="100" dirty="0">
                <a:latin typeface="Times New Roman" panose="02020603050405020304" pitchFamily="18" charset="0"/>
                <a:ea typeface="Calibri" panose="020F0502020204030204" pitchFamily="34" charset="0"/>
                <a:cs typeface="Times New Roman" panose="02020603050405020304" pitchFamily="18" charset="0"/>
              </a:rPr>
              <a:t>Contributions of G-One to the Medical field</a:t>
            </a:r>
          </a:p>
          <a:p>
            <a:pPr marL="285750" marR="0" indent="-285750" algn="just" fontAlgn="base">
              <a:lnSpc>
                <a:spcPct val="107000"/>
              </a:lnSpc>
              <a:spcBef>
                <a:spcPts val="0"/>
              </a:spcBef>
              <a:spcAft>
                <a:spcPts val="0"/>
              </a:spcAft>
              <a:buFont typeface="Wingdings" panose="05000000000000000000" pitchFamily="2" charset="2"/>
              <a:buChar char="ü"/>
            </a:pPr>
            <a:r>
              <a:rPr lang="en-US" b="1" u="sng" dirty="0">
                <a:solidFill>
                  <a:srgbClr val="0070C0"/>
                </a:solidFill>
                <a:latin typeface="Times New Roman" panose="02020603050405020304" pitchFamily="18" charset="0"/>
                <a:cs typeface="Times New Roman" panose="02020603050405020304" pitchFamily="18" charset="0"/>
              </a:rPr>
              <a:t>Improves Health Literacy:</a:t>
            </a:r>
            <a:r>
              <a:rPr lang="en-US" u="sng" dirty="0">
                <a:solidFill>
                  <a:srgbClr val="0070C0"/>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Simplifies complex medical reports and health data for better understanding by non-medical users.</a:t>
            </a:r>
            <a:endParaRPr lang="en-US" u="sng" kern="100" dirty="0">
              <a:latin typeface="Times New Roman" panose="02020603050405020304" pitchFamily="18" charset="0"/>
              <a:ea typeface="Calibri" panose="020F0502020204030204" pitchFamily="34" charset="0"/>
              <a:cs typeface="Times New Roman" panose="02020603050405020304" pitchFamily="18" charset="0"/>
            </a:endParaRPr>
          </a:p>
          <a:p>
            <a:pPr marL="285750" marR="0" indent="-285750" algn="just" fontAlgn="base">
              <a:lnSpc>
                <a:spcPct val="107000"/>
              </a:lnSpc>
              <a:spcBef>
                <a:spcPts val="0"/>
              </a:spcBef>
              <a:spcAft>
                <a:spcPts val="0"/>
              </a:spcAft>
              <a:buFont typeface="Wingdings" panose="05000000000000000000" pitchFamily="2" charset="2"/>
              <a:buChar char="ü"/>
            </a:pPr>
            <a:r>
              <a:rPr lang="en-US" b="1" u="sng" dirty="0">
                <a:solidFill>
                  <a:srgbClr val="0070C0"/>
                </a:solidFill>
                <a:latin typeface="Times New Roman" panose="02020603050405020304" pitchFamily="18" charset="0"/>
                <a:cs typeface="Times New Roman" panose="02020603050405020304" pitchFamily="18" charset="0"/>
              </a:rPr>
              <a:t>Empowers Informed Decision-Making:</a:t>
            </a:r>
            <a:r>
              <a:rPr lang="en-US" u="sng" dirty="0">
                <a:solidFill>
                  <a:srgbClr val="0070C0"/>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Provides clear insights to help users make proactive health decisions.</a:t>
            </a:r>
            <a:endParaRPr lang="en-US" u="sng" kern="100" dirty="0">
              <a:latin typeface="Times New Roman" panose="02020603050405020304" pitchFamily="18" charset="0"/>
              <a:ea typeface="Calibri" panose="020F0502020204030204" pitchFamily="34" charset="0"/>
              <a:cs typeface="Times New Roman" panose="02020603050405020304" pitchFamily="18" charset="0"/>
            </a:endParaRPr>
          </a:p>
          <a:p>
            <a:pPr marL="285750" marR="0" indent="-285750" algn="just" fontAlgn="base">
              <a:lnSpc>
                <a:spcPct val="107000"/>
              </a:lnSpc>
              <a:spcBef>
                <a:spcPts val="0"/>
              </a:spcBef>
              <a:spcAft>
                <a:spcPts val="0"/>
              </a:spcAft>
              <a:buFont typeface="Wingdings" panose="05000000000000000000" pitchFamily="2" charset="2"/>
              <a:buChar char="ü"/>
            </a:pPr>
            <a:r>
              <a:rPr lang="en-US" b="1" u="sng" dirty="0">
                <a:solidFill>
                  <a:srgbClr val="0070C0"/>
                </a:solidFill>
                <a:latin typeface="Times New Roman" panose="02020603050405020304" pitchFamily="18" charset="0"/>
                <a:cs typeface="Times New Roman" panose="02020603050405020304" pitchFamily="18" charset="0"/>
              </a:rPr>
              <a:t>Supports Personalized Health Management:</a:t>
            </a:r>
            <a:r>
              <a:rPr lang="en-US" u="sng" dirty="0">
                <a:solidFill>
                  <a:srgbClr val="0070C0"/>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Offers tailored exercise and dietary plans for managing individual health conditions.</a:t>
            </a:r>
            <a:endParaRPr lang="en-US" u="sng" kern="100" dirty="0">
              <a:latin typeface="Times New Roman" panose="02020603050405020304" pitchFamily="18" charset="0"/>
              <a:ea typeface="Calibri" panose="020F0502020204030204" pitchFamily="34" charset="0"/>
              <a:cs typeface="Times New Roman" panose="02020603050405020304" pitchFamily="18" charset="0"/>
            </a:endParaRPr>
          </a:p>
          <a:p>
            <a:pPr marL="285750" marR="0" indent="-285750" algn="just" fontAlgn="base">
              <a:lnSpc>
                <a:spcPct val="107000"/>
              </a:lnSpc>
              <a:spcBef>
                <a:spcPts val="0"/>
              </a:spcBef>
              <a:spcAft>
                <a:spcPts val="0"/>
              </a:spcAft>
              <a:buFont typeface="Wingdings" panose="05000000000000000000" pitchFamily="2" charset="2"/>
              <a:buChar char="ü"/>
            </a:pPr>
            <a:r>
              <a:rPr lang="en-US" b="1" u="sng" dirty="0">
                <a:solidFill>
                  <a:srgbClr val="0070C0"/>
                </a:solidFill>
                <a:latin typeface="Times New Roman" panose="02020603050405020304" pitchFamily="18" charset="0"/>
                <a:cs typeface="Times New Roman" panose="02020603050405020304" pitchFamily="18" charset="0"/>
              </a:rPr>
              <a:t>Optimizes Healthcare Resources:</a:t>
            </a:r>
            <a:r>
              <a:rPr lang="en-US" u="sng" dirty="0">
                <a:solidFill>
                  <a:srgbClr val="0070C0"/>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Reduces dependency on healthcare professionals for basic health information, improving efficiency.</a:t>
            </a:r>
            <a:endParaRPr lang="en-US" u="sng"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marR="0" indent="-285750" algn="just" fontAlgn="base">
              <a:lnSpc>
                <a:spcPct val="107000"/>
              </a:lnSpc>
              <a:spcBef>
                <a:spcPts val="0"/>
              </a:spcBef>
              <a:spcAft>
                <a:spcPts val="0"/>
              </a:spcAft>
              <a:buFont typeface="Wingdings" panose="05000000000000000000" pitchFamily="2" charset="2"/>
              <a:buChar char="q"/>
            </a:pPr>
            <a:endParaRPr lang="en-US"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lgn="just" fontAlgn="base">
              <a:lnSpc>
                <a:spcPct val="107000"/>
              </a:lnSpc>
              <a:buFont typeface="Wingdings" panose="05000000000000000000" pitchFamily="2" charset="2"/>
              <a:buChar char="q"/>
            </a:pPr>
            <a:r>
              <a:rPr lang="en-US" b="1" u="sng" kern="100" dirty="0">
                <a:latin typeface="Times New Roman" panose="02020603050405020304" pitchFamily="18" charset="0"/>
                <a:ea typeface="Calibri" panose="020F0502020204030204" pitchFamily="34" charset="0"/>
                <a:cs typeface="Times New Roman" panose="02020603050405020304" pitchFamily="18" charset="0"/>
              </a:rPr>
              <a:t>Potential </a:t>
            </a:r>
            <a:r>
              <a:rPr lang="en-IN" b="1" u="sng" dirty="0">
                <a:latin typeface="Times New Roman" panose="02020603050405020304" pitchFamily="18" charset="0"/>
                <a:cs typeface="Times New Roman" panose="02020603050405020304" pitchFamily="18" charset="0"/>
              </a:rPr>
              <a:t>Benefits:</a:t>
            </a:r>
          </a:p>
          <a:p>
            <a:pPr marL="285750" indent="-285750" algn="just" fontAlgn="base">
              <a:lnSpc>
                <a:spcPct val="107000"/>
              </a:lnSpc>
              <a:buFont typeface="Wingdings" panose="05000000000000000000" pitchFamily="2" charset="2"/>
              <a:buChar char="ü"/>
            </a:pPr>
            <a:r>
              <a:rPr lang="en-US" b="1" u="sng" dirty="0">
                <a:solidFill>
                  <a:srgbClr val="0070C0"/>
                </a:solidFill>
                <a:latin typeface="Times New Roman" panose="02020603050405020304" pitchFamily="18" charset="0"/>
                <a:cs typeface="Times New Roman" panose="02020603050405020304" pitchFamily="18" charset="0"/>
              </a:rPr>
              <a:t>For Industries: </a:t>
            </a:r>
            <a:r>
              <a:rPr lang="en-US" dirty="0">
                <a:latin typeface="Times New Roman" panose="02020603050405020304" pitchFamily="18" charset="0"/>
                <a:cs typeface="Times New Roman" panose="02020603050405020304" pitchFamily="18" charset="0"/>
              </a:rPr>
              <a:t>G-One can collaborate with medical laboratories to create a referral system, where users, after checking symptoms, are directed to authorized labs for tests, increasing traffic and potential revenue for these labs.</a:t>
            </a:r>
            <a:endParaRPr lang="en-IN" b="1" u="sng" dirty="0">
              <a:latin typeface="Times New Roman" panose="02020603050405020304" pitchFamily="18" charset="0"/>
              <a:cs typeface="Times New Roman" panose="02020603050405020304" pitchFamily="18" charset="0"/>
            </a:endParaRPr>
          </a:p>
          <a:p>
            <a:pPr marL="285750" marR="0" indent="-285750" algn="just" fontAlgn="base">
              <a:lnSpc>
                <a:spcPct val="107000"/>
              </a:lnSpc>
              <a:spcBef>
                <a:spcPts val="0"/>
              </a:spcBef>
              <a:spcAft>
                <a:spcPts val="0"/>
              </a:spcAft>
              <a:buFont typeface="Wingdings" panose="05000000000000000000" pitchFamily="2" charset="2"/>
              <a:buChar char="q"/>
            </a:pPr>
            <a:endParaRPr lang="en-US"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marR="0" indent="-285750" algn="just" fontAlgn="base">
              <a:lnSpc>
                <a:spcPct val="107000"/>
              </a:lnSpc>
              <a:spcBef>
                <a:spcPts val="0"/>
              </a:spcBef>
              <a:spcAft>
                <a:spcPts val="0"/>
              </a:spcAft>
              <a:buFont typeface="Wingdings" panose="05000000000000000000" pitchFamily="2" charset="2"/>
              <a:buChar char="q"/>
            </a:pPr>
            <a:endParaRPr lang="en-US"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2397957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6ADFC7-C000-C38C-E39B-B3BDB538A4B5}"/>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C90E3DF6-DF5B-095D-9DB3-2BD7943AC321}"/>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pic>
        <p:nvPicPr>
          <p:cNvPr id="9" name="Picture 8">
            <a:extLst>
              <a:ext uri="{FF2B5EF4-FFF2-40B4-BE49-F238E27FC236}">
                <a16:creationId xmlns:a16="http://schemas.microsoft.com/office/drawing/2014/main" id="{48081708-7424-BA6D-9F82-75AE1614D94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EDB08E08-98AB-F0C8-272C-51E05A255E83}"/>
              </a:ext>
            </a:extLst>
          </p:cNvPr>
          <p:cNvSpPr txBox="1"/>
          <p:nvPr/>
        </p:nvSpPr>
        <p:spPr>
          <a:xfrm>
            <a:off x="43820" y="116632"/>
            <a:ext cx="8999984" cy="6296019"/>
          </a:xfrm>
          <a:prstGeom prst="rect">
            <a:avLst/>
          </a:prstGeom>
          <a:noFill/>
        </p:spPr>
        <p:txBody>
          <a:bodyPr wrap="square">
            <a:spAutoFit/>
          </a:bodyPr>
          <a:lstStyle/>
          <a:p>
            <a:pPr marL="285750" marR="0" indent="-285750" algn="just" fontAlgn="base">
              <a:lnSpc>
                <a:spcPct val="107000"/>
              </a:lnSpc>
              <a:spcBef>
                <a:spcPts val="0"/>
              </a:spcBef>
              <a:spcAft>
                <a:spcPts val="0"/>
              </a:spcAft>
              <a:buFont typeface="Wingdings" panose="05000000000000000000" pitchFamily="2" charset="2"/>
              <a:buChar char="ü"/>
            </a:pPr>
            <a:r>
              <a:rPr lang="en-US" b="1" u="sng" dirty="0">
                <a:solidFill>
                  <a:srgbClr val="0070C0"/>
                </a:solidFill>
                <a:latin typeface="Times New Roman" panose="02020603050405020304" pitchFamily="18" charset="0"/>
                <a:cs typeface="Times New Roman" panose="02020603050405020304" pitchFamily="18" charset="0"/>
              </a:rPr>
              <a:t>For Researchers:</a:t>
            </a:r>
            <a:r>
              <a:rPr lang="en-US" u="sng" dirty="0">
                <a:solidFill>
                  <a:srgbClr val="0070C0"/>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The data collected through symptom checking and user reports can serve as valuable insights for medical research, helping in understanding health trends and patterns.</a:t>
            </a:r>
          </a:p>
          <a:p>
            <a:pPr marL="285750" indent="-285750" algn="just" fontAlgn="base">
              <a:lnSpc>
                <a:spcPct val="107000"/>
              </a:lnSpc>
              <a:buFont typeface="Wingdings" panose="05000000000000000000" pitchFamily="2" charset="2"/>
              <a:buChar char="ü"/>
            </a:pPr>
            <a:r>
              <a:rPr lang="en-US" b="1" u="sng" dirty="0">
                <a:solidFill>
                  <a:srgbClr val="0070C0"/>
                </a:solidFill>
                <a:latin typeface="Times New Roman" panose="02020603050405020304" pitchFamily="18" charset="0"/>
                <a:cs typeface="Times New Roman" panose="02020603050405020304" pitchFamily="18" charset="0"/>
              </a:rPr>
              <a:t>For Users:</a:t>
            </a:r>
            <a:r>
              <a:rPr lang="en-US" u="sng" dirty="0">
                <a:solidFill>
                  <a:srgbClr val="0070C0"/>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G-One offers free access to symptom checking, helping individuals identify potential health risks and take timely action, improving health outcomes without the burden of extra costs.</a:t>
            </a:r>
          </a:p>
          <a:p>
            <a:pPr marR="0" algn="just" fontAlgn="base">
              <a:lnSpc>
                <a:spcPct val="107000"/>
              </a:lnSpc>
              <a:spcBef>
                <a:spcPts val="0"/>
              </a:spcBef>
              <a:spcAft>
                <a:spcPts val="0"/>
              </a:spcAft>
            </a:pPr>
            <a:endParaRPr lang="en-US"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marR="0" indent="-285750" algn="just" fontAlgn="base">
              <a:lnSpc>
                <a:spcPct val="107000"/>
              </a:lnSpc>
              <a:spcBef>
                <a:spcPts val="0"/>
              </a:spcBef>
              <a:spcAft>
                <a:spcPts val="0"/>
              </a:spcAft>
              <a:buFont typeface="Wingdings" panose="05000000000000000000" pitchFamily="2" charset="2"/>
              <a:buChar char="q"/>
            </a:pPr>
            <a:r>
              <a:rPr lang="en-IN" b="1" u="sng" dirty="0">
                <a:latin typeface="Times New Roman" panose="02020603050405020304" pitchFamily="18" charset="0"/>
                <a:cs typeface="Times New Roman" panose="02020603050405020304" pitchFamily="18" charset="0"/>
              </a:rPr>
              <a:t>Future Scope and Extensions:</a:t>
            </a:r>
            <a:endParaRPr lang="en-US" b="1" u="sng" kern="100" dirty="0">
              <a:latin typeface="Times New Roman" panose="02020603050405020304" pitchFamily="18" charset="0"/>
              <a:ea typeface="Calibri" panose="020F0502020204030204" pitchFamily="34" charset="0"/>
              <a:cs typeface="Times New Roman" panose="02020603050405020304" pitchFamily="18" charset="0"/>
            </a:endParaRPr>
          </a:p>
          <a:p>
            <a:pPr marL="285750" marR="0" indent="-285750" algn="just" fontAlgn="base">
              <a:lnSpc>
                <a:spcPct val="107000"/>
              </a:lnSpc>
              <a:spcBef>
                <a:spcPts val="0"/>
              </a:spcBef>
              <a:spcAft>
                <a:spcPts val="0"/>
              </a:spcAft>
              <a:buFont typeface="Wingdings" panose="05000000000000000000" pitchFamily="2" charset="2"/>
              <a:buChar char="ü"/>
            </a:pPr>
            <a:r>
              <a:rPr lang="en-US" b="1" u="sng" dirty="0">
                <a:solidFill>
                  <a:srgbClr val="0070C0"/>
                </a:solidFill>
                <a:latin typeface="Times New Roman" panose="02020603050405020304" pitchFamily="18" charset="0"/>
                <a:cs typeface="Times New Roman" panose="02020603050405020304" pitchFamily="18" charset="0"/>
              </a:rPr>
              <a:t>Collaboration with Laboratories:</a:t>
            </a:r>
            <a:r>
              <a:rPr lang="en-US" u="sng" dirty="0">
                <a:solidFill>
                  <a:srgbClr val="0070C0"/>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By collaborating with laboratories, G-One will direct users to authorized labs for further testing, creating a streamlined process for health assessments. This partnership will offer laboratories a wider reach, encouraging more referrals.</a:t>
            </a:r>
          </a:p>
          <a:p>
            <a:pPr marL="285750" marR="0" indent="-285750" algn="just" fontAlgn="base">
              <a:lnSpc>
                <a:spcPct val="107000"/>
              </a:lnSpc>
              <a:spcBef>
                <a:spcPts val="0"/>
              </a:spcBef>
              <a:spcAft>
                <a:spcPts val="0"/>
              </a:spcAft>
              <a:buFont typeface="Wingdings" panose="05000000000000000000" pitchFamily="2" charset="2"/>
              <a:buChar char="ü"/>
            </a:pPr>
            <a:r>
              <a:rPr lang="en-US" b="1" u="sng" dirty="0">
                <a:solidFill>
                  <a:srgbClr val="0070C0"/>
                </a:solidFill>
                <a:latin typeface="Times New Roman" panose="02020603050405020304" pitchFamily="18" charset="0"/>
                <a:cs typeface="Times New Roman" panose="02020603050405020304" pitchFamily="18" charset="0"/>
              </a:rPr>
              <a:t>Supporting Labs and Expanding Access:</a:t>
            </a:r>
            <a:r>
              <a:rPr lang="en-US" u="sng" dirty="0">
                <a:solidFill>
                  <a:srgbClr val="0070C0"/>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As laboratories advertise their services on the G-One platform, they will pay for these placements, offering G-One a sustainable revenue stream. Additionally, we could implement a referral model, where a small fee is earned for each user who completes testing through the platform’s lab recommendations, benefiting both users and labs.</a:t>
            </a:r>
          </a:p>
          <a:p>
            <a:pPr marL="285750" marR="0" indent="-285750" algn="just" fontAlgn="base">
              <a:lnSpc>
                <a:spcPct val="107000"/>
              </a:lnSpc>
              <a:spcBef>
                <a:spcPts val="0"/>
              </a:spcBef>
              <a:spcAft>
                <a:spcPts val="0"/>
              </a:spcAft>
              <a:buFont typeface="Wingdings" panose="05000000000000000000" pitchFamily="2" charset="2"/>
              <a:buChar char="ü"/>
            </a:pPr>
            <a:r>
              <a:rPr lang="en-IN" b="1" u="sng" dirty="0">
                <a:solidFill>
                  <a:srgbClr val="0070C0"/>
                </a:solidFill>
                <a:latin typeface="Times New Roman" panose="02020603050405020304" pitchFamily="18" charset="0"/>
                <a:cs typeface="Times New Roman" panose="02020603050405020304" pitchFamily="18" charset="0"/>
              </a:rPr>
              <a:t>Expansion of Services: </a:t>
            </a:r>
            <a:r>
              <a:rPr lang="en-US" dirty="0">
                <a:latin typeface="Times New Roman" panose="02020603050405020304" pitchFamily="18" charset="0"/>
                <a:cs typeface="Times New Roman" panose="02020603050405020304" pitchFamily="18" charset="0"/>
              </a:rPr>
              <a:t>G-One plans to expand its symptom checker to cover more diseases .This improvement will enhance the comprehensiveness of the service, providing users with broader health insights and a more robust tool for managing their well-being.</a:t>
            </a:r>
            <a:endParaRPr lang="en-US"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marR="0" indent="-285750" algn="just" fontAlgn="base">
              <a:lnSpc>
                <a:spcPct val="107000"/>
              </a:lnSpc>
              <a:spcBef>
                <a:spcPts val="0"/>
              </a:spcBef>
              <a:spcAft>
                <a:spcPts val="0"/>
              </a:spcAft>
              <a:buFont typeface="Wingdings" panose="05000000000000000000" pitchFamily="2" charset="2"/>
              <a:buChar char="q"/>
            </a:pPr>
            <a:endParaRPr lang="en-US"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8975289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5A90B0-DF45-D772-F2C2-4DA9C9459708}"/>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B8841DBC-268C-A507-A4A1-7C7360656340}"/>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1FEB11A7-55F7-BA44-4ABC-0E9514E1A407}"/>
              </a:ext>
            </a:extLst>
          </p:cNvPr>
          <p:cNvSpPr>
            <a:spLocks noChangeArrowheads="1"/>
          </p:cNvSpPr>
          <p:nvPr/>
        </p:nvSpPr>
        <p:spPr bwMode="auto">
          <a:xfrm>
            <a:off x="157456" y="201989"/>
            <a:ext cx="828092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References</a:t>
            </a: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914D0127-5B9D-1F1F-5AC4-DBE6A7B70CC0}"/>
              </a:ext>
            </a:extLst>
          </p:cNvPr>
          <p:cNvCxnSpPr/>
          <p:nvPr/>
        </p:nvCxnSpPr>
        <p:spPr>
          <a:xfrm>
            <a:off x="0" y="813672"/>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E1913F5F-C1D7-7FAC-0C7C-5A9C9314CC4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519A5981-DFEE-F419-D91C-B08F4A8F860A}"/>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1401230E-A2B3-BF6C-96B3-DAEBFDD3C4B8}"/>
              </a:ext>
            </a:extLst>
          </p:cNvPr>
          <p:cNvSpPr txBox="1"/>
          <p:nvPr/>
        </p:nvSpPr>
        <p:spPr>
          <a:xfrm>
            <a:off x="251520" y="988753"/>
            <a:ext cx="8712968" cy="5632311"/>
          </a:xfrm>
          <a:prstGeom prst="rect">
            <a:avLst/>
          </a:prstGeom>
          <a:noFill/>
        </p:spPr>
        <p:txBody>
          <a:bodyPr wrap="square">
            <a:spAutoFit/>
          </a:bodyPr>
          <a:lstStyle/>
          <a:p>
            <a:pPr marL="342900" indent="-342900">
              <a:buFont typeface="+mj-lt"/>
              <a:buAutoNum type="arabicPeriod"/>
            </a:pPr>
            <a:r>
              <a:rPr lang="en-US" dirty="0">
                <a:latin typeface="Times New Roman" panose="02020603050405020304" pitchFamily="18" charset="0"/>
                <a:cs typeface="Times New Roman" panose="02020603050405020304" pitchFamily="18" charset="0"/>
              </a:rPr>
              <a:t>Choi, J. Y., &amp; Park, J. (2019). A survey of medical data mining approaches for e-health applications. </a:t>
            </a:r>
            <a:r>
              <a:rPr lang="en-US" i="1" dirty="0">
                <a:latin typeface="Times New Roman" panose="02020603050405020304" pitchFamily="18" charset="0"/>
                <a:cs typeface="Times New Roman" panose="02020603050405020304" pitchFamily="18" charset="0"/>
              </a:rPr>
              <a:t>Journal of Healthcare Engineering, 2019</a:t>
            </a:r>
            <a:r>
              <a:rPr lang="en-US" dirty="0">
                <a:latin typeface="Times New Roman" panose="02020603050405020304" pitchFamily="18" charset="0"/>
                <a:cs typeface="Times New Roman" panose="02020603050405020304" pitchFamily="18" charset="0"/>
              </a:rPr>
              <a:t>, Article 1234786. https://doi.org/10.1155/2019/1234786</a:t>
            </a:r>
          </a:p>
          <a:p>
            <a:pPr marL="342900" indent="-342900">
              <a:buFont typeface="+mj-lt"/>
              <a:buAutoNum type="arabicPeriod"/>
            </a:pPr>
            <a:endParaRPr lang="en-US"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US" dirty="0">
                <a:latin typeface="Times New Roman" panose="02020603050405020304" pitchFamily="18" charset="0"/>
                <a:cs typeface="Times New Roman" panose="02020603050405020304" pitchFamily="18" charset="0"/>
              </a:rPr>
              <a:t>Shetty, V., &amp; Raghavendra, P. (2020). Artificial intelligence in healthcare: Challenges and opportunities. </a:t>
            </a:r>
            <a:r>
              <a:rPr lang="en-US" i="1" dirty="0">
                <a:latin typeface="Times New Roman" panose="02020603050405020304" pitchFamily="18" charset="0"/>
                <a:cs typeface="Times New Roman" panose="02020603050405020304" pitchFamily="18" charset="0"/>
              </a:rPr>
              <a:t>Journal of Healthcare Informatics Research, 4</a:t>
            </a:r>
            <a:r>
              <a:rPr lang="en-US" dirty="0">
                <a:latin typeface="Times New Roman" panose="02020603050405020304" pitchFamily="18" charset="0"/>
                <a:cs typeface="Times New Roman" panose="02020603050405020304" pitchFamily="18" charset="0"/>
              </a:rPr>
              <a:t>(2), 1–15. https://doi.org/10.1007/s41666-020-00042-1</a:t>
            </a:r>
          </a:p>
          <a:p>
            <a:pPr marL="342900" indent="-342900">
              <a:buFont typeface="+mj-lt"/>
              <a:buAutoNum type="arabicPeriod"/>
            </a:pPr>
            <a:endParaRPr lang="en-US"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US" dirty="0">
                <a:latin typeface="Times New Roman" panose="02020603050405020304" pitchFamily="18" charset="0"/>
                <a:cs typeface="Times New Roman" panose="02020603050405020304" pitchFamily="18" charset="0"/>
              </a:rPr>
              <a:t>Jain, S., &amp; Patel, N. (2021). Medical report summarization using natural language processing. </a:t>
            </a:r>
            <a:r>
              <a:rPr lang="en-US" i="1" dirty="0">
                <a:latin typeface="Times New Roman" panose="02020603050405020304" pitchFamily="18" charset="0"/>
                <a:cs typeface="Times New Roman" panose="02020603050405020304" pitchFamily="18" charset="0"/>
              </a:rPr>
              <a:t>Healthcare Technology Letters, 8</a:t>
            </a:r>
            <a:r>
              <a:rPr lang="en-US" dirty="0">
                <a:latin typeface="Times New Roman" panose="02020603050405020304" pitchFamily="18" charset="0"/>
                <a:cs typeface="Times New Roman" panose="02020603050405020304" pitchFamily="18" charset="0"/>
              </a:rPr>
              <a:t>(3), 1–8. https://doi.org/10.1049/htl.2020.0164</a:t>
            </a:r>
          </a:p>
          <a:p>
            <a:pPr marL="342900" indent="-342900">
              <a:buFont typeface="+mj-lt"/>
              <a:buAutoNum type="arabicPeriod"/>
            </a:pPr>
            <a:endParaRPr lang="en-US"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US" dirty="0">
                <a:latin typeface="Times New Roman" panose="02020603050405020304" pitchFamily="18" charset="0"/>
                <a:cs typeface="Times New Roman" panose="02020603050405020304" pitchFamily="18" charset="0"/>
              </a:rPr>
              <a:t>Usman, M., &amp; Khan, I. (2020). A survey on health data mining: A data science approach for healthcare systems. </a:t>
            </a:r>
            <a:r>
              <a:rPr lang="en-US" i="1" dirty="0">
                <a:latin typeface="Times New Roman" panose="02020603050405020304" pitchFamily="18" charset="0"/>
                <a:cs typeface="Times New Roman" panose="02020603050405020304" pitchFamily="18" charset="0"/>
              </a:rPr>
              <a:t>Journal of Healthcare Engineering, 2020</a:t>
            </a:r>
            <a:r>
              <a:rPr lang="en-US" dirty="0">
                <a:latin typeface="Times New Roman" panose="02020603050405020304" pitchFamily="18" charset="0"/>
                <a:cs typeface="Times New Roman" panose="02020603050405020304" pitchFamily="18" charset="0"/>
              </a:rPr>
              <a:t>, Article 9705741. https://doi.org/10.1155/2020/9705741</a:t>
            </a:r>
          </a:p>
          <a:p>
            <a:pPr marL="342900" indent="-342900">
              <a:buFont typeface="+mj-lt"/>
              <a:buAutoNum type="arabicPeriod"/>
            </a:pPr>
            <a:endParaRPr lang="en-US"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US" dirty="0">
                <a:latin typeface="Times New Roman" panose="02020603050405020304" pitchFamily="18" charset="0"/>
                <a:cs typeface="Times New Roman" panose="02020603050405020304" pitchFamily="18" charset="0"/>
              </a:rPr>
              <a:t>Kumar, M., &amp; Verma, A. (2022). Health insights and predictive analytics in medical systems: A review. </a:t>
            </a:r>
            <a:r>
              <a:rPr lang="en-US" i="1" dirty="0">
                <a:latin typeface="Times New Roman" panose="02020603050405020304" pitchFamily="18" charset="0"/>
                <a:cs typeface="Times New Roman" panose="02020603050405020304" pitchFamily="18" charset="0"/>
              </a:rPr>
              <a:t>Journal of Medical Systems, 46</a:t>
            </a:r>
            <a:r>
              <a:rPr lang="en-US" dirty="0">
                <a:latin typeface="Times New Roman" panose="02020603050405020304" pitchFamily="18" charset="0"/>
                <a:cs typeface="Times New Roman" panose="02020603050405020304" pitchFamily="18" charset="0"/>
              </a:rPr>
              <a:t>(12), Article 210. https://doi.org/10.1007/s10916-022-01913-9</a:t>
            </a:r>
          </a:p>
          <a:p>
            <a:pPr algn="just"/>
            <a:endParaRPr lang="en-IN" dirty="0"/>
          </a:p>
        </p:txBody>
      </p:sp>
    </p:spTree>
    <p:extLst>
      <p:ext uri="{BB962C8B-B14F-4D97-AF65-F5344CB8AC3E}">
        <p14:creationId xmlns:p14="http://schemas.microsoft.com/office/powerpoint/2010/main" val="10153793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0" y="0"/>
            <a:ext cx="9180512" cy="6858000"/>
          </a:xfr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p:cNvSpPr txBox="1"/>
          <p:nvPr/>
        </p:nvSpPr>
        <p:spPr>
          <a:xfrm>
            <a:off x="1835696" y="2708920"/>
            <a:ext cx="5651034" cy="1200329"/>
          </a:xfrm>
          <a:prstGeom prst="rect">
            <a:avLst/>
          </a:prstGeom>
          <a:noFill/>
        </p:spPr>
        <p:txBody>
          <a:bodyPr wrap="none" rtlCol="0">
            <a:spAutoFit/>
          </a:bodyPr>
          <a:lstStyle/>
          <a:p>
            <a:pPr algn="ctr"/>
            <a:r>
              <a:rPr lang="en-US" sz="7200" dirty="0">
                <a:solidFill>
                  <a:srgbClr val="0060AA"/>
                </a:solidFill>
                <a:latin typeface="Garamond" pitchFamily="18" charset="0"/>
              </a:rPr>
              <a:t>THANK</a:t>
            </a:r>
            <a:r>
              <a:rPr lang="en-US" sz="7200" dirty="0">
                <a:latin typeface="Garamond" pitchFamily="18" charset="0"/>
              </a:rPr>
              <a:t> </a:t>
            </a:r>
            <a:r>
              <a:rPr lang="en-US" sz="7200" dirty="0">
                <a:solidFill>
                  <a:srgbClr val="E31E24"/>
                </a:solidFill>
                <a:latin typeface="Garamond" pitchFamily="18" charset="0"/>
              </a:rPr>
              <a:t>YOU</a:t>
            </a:r>
            <a:endParaRPr lang="en-IN" sz="7200" dirty="0">
              <a:latin typeface="Garamond" pitchFamily="18" charset="0"/>
            </a:endParaRPr>
          </a:p>
        </p:txBody>
      </p:sp>
    </p:spTree>
    <p:extLst>
      <p:ext uri="{BB962C8B-B14F-4D97-AF65-F5344CB8AC3E}">
        <p14:creationId xmlns:p14="http://schemas.microsoft.com/office/powerpoint/2010/main" val="38581981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6986</TotalTime>
  <Words>2356</Words>
  <Application>Microsoft Office PowerPoint</Application>
  <PresentationFormat>On-screen Show (4:3)</PresentationFormat>
  <Paragraphs>213</Paragraphs>
  <Slides>18</Slides>
  <Notes>16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Calibri</vt:lpstr>
      <vt:lpstr>Garamond</vt:lpstr>
      <vt:lpstr>Times New Roman</vt:lpstr>
      <vt:lpstr>Verdana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WEBDEV</dc:creator>
  <cp:lastModifiedBy>MOHD RIZWAN 2301420037</cp:lastModifiedBy>
  <cp:revision>326</cp:revision>
  <cp:lastPrinted>2022-09-05T08:43:44Z</cp:lastPrinted>
  <dcterms:created xsi:type="dcterms:W3CDTF">2020-01-16T09:05:56Z</dcterms:created>
  <dcterms:modified xsi:type="dcterms:W3CDTF">2025-05-01T04:17:19Z</dcterms:modified>
</cp:coreProperties>
</file>